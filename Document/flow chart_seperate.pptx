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F8E6E-5679-4719-9BA1-C6462E49535A}" type="datetimeFigureOut">
              <a:rPr lang="zh-TW" altLang="en-US" smtClean="0"/>
              <a:t>2021/6/3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917-1716-429A-A268-70C00A6215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5363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F8E6E-5679-4719-9BA1-C6462E49535A}" type="datetimeFigureOut">
              <a:rPr lang="zh-TW" altLang="en-US" smtClean="0"/>
              <a:t>2021/6/3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917-1716-429A-A268-70C00A6215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5009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F8E6E-5679-4719-9BA1-C6462E49535A}" type="datetimeFigureOut">
              <a:rPr lang="zh-TW" altLang="en-US" smtClean="0"/>
              <a:t>2021/6/3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917-1716-429A-A268-70C00A6215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1940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F8E6E-5679-4719-9BA1-C6462E49535A}" type="datetimeFigureOut">
              <a:rPr lang="zh-TW" altLang="en-US" smtClean="0"/>
              <a:t>2021/6/3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917-1716-429A-A268-70C00A6215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651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F8E6E-5679-4719-9BA1-C6462E49535A}" type="datetimeFigureOut">
              <a:rPr lang="zh-TW" altLang="en-US" smtClean="0"/>
              <a:t>2021/6/3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917-1716-429A-A268-70C00A6215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3522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F8E6E-5679-4719-9BA1-C6462E49535A}" type="datetimeFigureOut">
              <a:rPr lang="zh-TW" altLang="en-US" smtClean="0"/>
              <a:t>2021/6/3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917-1716-429A-A268-70C00A6215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8177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F8E6E-5679-4719-9BA1-C6462E49535A}" type="datetimeFigureOut">
              <a:rPr lang="zh-TW" altLang="en-US" smtClean="0"/>
              <a:t>2021/6/3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917-1716-429A-A268-70C00A6215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6254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F8E6E-5679-4719-9BA1-C6462E49535A}" type="datetimeFigureOut">
              <a:rPr lang="zh-TW" altLang="en-US" smtClean="0"/>
              <a:t>2021/6/3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917-1716-429A-A268-70C00A6215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392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F8E6E-5679-4719-9BA1-C6462E49535A}" type="datetimeFigureOut">
              <a:rPr lang="zh-TW" altLang="en-US" smtClean="0"/>
              <a:t>2021/6/3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917-1716-429A-A268-70C00A6215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21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F8E6E-5679-4719-9BA1-C6462E49535A}" type="datetimeFigureOut">
              <a:rPr lang="zh-TW" altLang="en-US" smtClean="0"/>
              <a:t>2021/6/3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917-1716-429A-A268-70C00A6215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0719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F8E6E-5679-4719-9BA1-C6462E49535A}" type="datetimeFigureOut">
              <a:rPr lang="zh-TW" altLang="en-US" smtClean="0"/>
              <a:t>2021/6/3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917-1716-429A-A268-70C00A6215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743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AF8E6E-5679-4719-9BA1-C6462E49535A}" type="datetimeFigureOut">
              <a:rPr lang="zh-TW" altLang="en-US" smtClean="0"/>
              <a:t>2021/6/3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F6917-1716-429A-A268-70C00A6215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8896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23925" y="99753"/>
            <a:ext cx="6662286" cy="66584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8520545" y="108065"/>
            <a:ext cx="3566160" cy="665018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224444" y="224443"/>
            <a:ext cx="1729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Client (</a:t>
            </a:r>
            <a:r>
              <a:rPr lang="zh-TW" altLang="en-US" dirty="0" smtClean="0"/>
              <a:t>待測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8574578" y="224443"/>
            <a:ext cx="3029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Server (Control Panel)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8711738" y="731520"/>
            <a:ext cx="3183775" cy="47427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4581186" y="840741"/>
            <a:ext cx="1995054" cy="9642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8875878" y="840741"/>
            <a:ext cx="285549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 smtClean="0"/>
              <a:t>設定</a:t>
            </a:r>
            <a:r>
              <a:rPr lang="en-US" altLang="zh-TW" sz="1400" dirty="0" smtClean="0"/>
              <a:t>ip_list.txt</a:t>
            </a:r>
          </a:p>
          <a:p>
            <a:r>
              <a:rPr lang="en-US" altLang="zh-TW" sz="1400" dirty="0" smtClean="0"/>
              <a:t>(</a:t>
            </a:r>
            <a:r>
              <a:rPr lang="zh-TW" altLang="en-US" sz="1400" dirty="0" smtClean="0"/>
              <a:t>兩張虛擬網卡的</a:t>
            </a:r>
            <a:r>
              <a:rPr lang="en-US" altLang="zh-TW" sz="1400" dirty="0" smtClean="0"/>
              <a:t>namespace</a:t>
            </a:r>
          </a:p>
          <a:p>
            <a:r>
              <a:rPr lang="en-US" altLang="zh-TW" sz="1400" dirty="0" smtClean="0"/>
              <a:t>name/vid/base/ipv4/mask4/gw4/ipv6/mask6/gw6/</a:t>
            </a:r>
            <a:r>
              <a:rPr lang="en-US" altLang="zh-TW" sz="1400" dirty="0" err="1" smtClean="0"/>
              <a:t>gw</a:t>
            </a:r>
            <a:r>
              <a:rPr lang="en-US" altLang="zh-TW" sz="1400" dirty="0" smtClean="0"/>
              <a:t> mac/mode)</a:t>
            </a:r>
          </a:p>
          <a:p>
            <a:endParaRPr lang="en-US" altLang="zh-TW" sz="1400" dirty="0" smtClean="0"/>
          </a:p>
          <a:p>
            <a:r>
              <a:rPr lang="en-US" altLang="zh-TW" sz="1400" dirty="0" smtClean="0"/>
              <a:t>mode 1: through packet</a:t>
            </a:r>
          </a:p>
          <a:p>
            <a:r>
              <a:rPr lang="en-US" altLang="zh-TW" sz="1400" dirty="0" smtClean="0"/>
              <a:t>mode 2: through ping message</a:t>
            </a:r>
          </a:p>
          <a:p>
            <a:r>
              <a:rPr lang="en-US" altLang="zh-TW" sz="1400" dirty="0" smtClean="0"/>
              <a:t>mode 3: through </a:t>
            </a:r>
            <a:r>
              <a:rPr lang="en-US" altLang="zh-TW" sz="1400" dirty="0" err="1" smtClean="0"/>
              <a:t>tcp</a:t>
            </a:r>
            <a:endParaRPr lang="en-US" altLang="zh-TW" sz="1400" dirty="0" smtClean="0"/>
          </a:p>
          <a:p>
            <a:r>
              <a:rPr lang="en-US" altLang="zh-TW" sz="1400" dirty="0" smtClean="0"/>
              <a:t>Mode 4: exit</a:t>
            </a:r>
          </a:p>
          <a:p>
            <a:endParaRPr lang="en-US" altLang="zh-TW" sz="1400" dirty="0" smtClean="0"/>
          </a:p>
          <a:p>
            <a:r>
              <a:rPr lang="zh-TW" altLang="en-US" sz="1400" dirty="0" smtClean="0"/>
              <a:t>設定</a:t>
            </a:r>
            <a:r>
              <a:rPr lang="en-US" altLang="zh-TW" sz="1400" dirty="0" smtClean="0"/>
              <a:t>control.py (</a:t>
            </a:r>
            <a:r>
              <a:rPr lang="zh-TW" altLang="en-US" sz="1400" dirty="0" smtClean="0"/>
              <a:t>目標</a:t>
            </a:r>
            <a:r>
              <a:rPr lang="en-US" altLang="zh-TW" sz="1400" dirty="0" err="1" smtClean="0"/>
              <a:t>ip</a:t>
            </a:r>
            <a:r>
              <a:rPr lang="en-US" altLang="zh-TW" sz="1400" dirty="0" smtClean="0"/>
              <a:t> </a:t>
            </a:r>
            <a:r>
              <a:rPr lang="en-US" altLang="zh-TW" sz="1400" dirty="0" err="1" smtClean="0"/>
              <a:t>addr</a:t>
            </a:r>
            <a:r>
              <a:rPr lang="en-US" altLang="zh-TW" sz="1400" dirty="0" smtClean="0"/>
              <a:t>/port/user/</a:t>
            </a:r>
            <a:r>
              <a:rPr lang="en-US" altLang="zh-TW" sz="1400" dirty="0" err="1" smtClean="0"/>
              <a:t>passwd</a:t>
            </a:r>
            <a:r>
              <a:rPr lang="en-US" altLang="zh-TW" sz="1400" dirty="0" smtClean="0"/>
              <a:t>)</a:t>
            </a:r>
          </a:p>
          <a:p>
            <a:endParaRPr lang="en-US" altLang="zh-TW" sz="1400" dirty="0" smtClean="0"/>
          </a:p>
          <a:p>
            <a:r>
              <a:rPr lang="zh-TW" altLang="en-US" sz="1400" dirty="0" smtClean="0"/>
              <a:t>執行</a:t>
            </a:r>
            <a:r>
              <a:rPr lang="en-US" altLang="zh-TW" sz="1400" dirty="0" smtClean="0"/>
              <a:t>control.py</a:t>
            </a:r>
            <a:endParaRPr lang="zh-TW" altLang="en-US" sz="1400" dirty="0"/>
          </a:p>
        </p:txBody>
      </p:sp>
      <p:sp>
        <p:nvSpPr>
          <p:cNvPr id="21" name="矩形 20"/>
          <p:cNvSpPr/>
          <p:nvPr/>
        </p:nvSpPr>
        <p:spPr>
          <a:xfrm>
            <a:off x="8711738" y="5599227"/>
            <a:ext cx="3183775" cy="10065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4680065" y="979777"/>
            <a:ext cx="16957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smtClean="0"/>
              <a:t>control.py</a:t>
            </a:r>
          </a:p>
          <a:p>
            <a:r>
              <a:rPr lang="zh-TW" altLang="en-US" sz="1600" dirty="0" smtClean="0"/>
              <a:t>遠端執行</a:t>
            </a:r>
            <a:r>
              <a:rPr lang="en-US" altLang="zh-TW" sz="1600" dirty="0" smtClean="0"/>
              <a:t>main.sh</a:t>
            </a:r>
            <a:endParaRPr lang="zh-TW" altLang="en-US" sz="16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6929387" y="1198464"/>
            <a:ext cx="1695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 smtClean="0"/>
              <a:t>透過</a:t>
            </a:r>
            <a:r>
              <a:rPr lang="en-US" altLang="zh-TW" sz="1200" dirty="0" smtClean="0"/>
              <a:t>SSH</a:t>
            </a:r>
            <a:r>
              <a:rPr lang="zh-TW" altLang="en-US" sz="1200" dirty="0" smtClean="0"/>
              <a:t>連線至</a:t>
            </a:r>
            <a:r>
              <a:rPr lang="en-US" altLang="zh-TW" sz="1200" dirty="0" smtClean="0"/>
              <a:t>client</a:t>
            </a:r>
            <a:endParaRPr lang="zh-TW" altLang="en-US" sz="12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6753726" y="5994956"/>
            <a:ext cx="1695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 smtClean="0"/>
              <a:t>回傳</a:t>
            </a:r>
            <a:r>
              <a:rPr lang="en-US" altLang="zh-TW" sz="1600" dirty="0" smtClean="0"/>
              <a:t>control panel</a:t>
            </a:r>
            <a:endParaRPr lang="zh-TW" altLang="en-US" sz="1600" dirty="0"/>
          </a:p>
        </p:txBody>
      </p:sp>
      <p:grpSp>
        <p:nvGrpSpPr>
          <p:cNvPr id="31" name="群組 30"/>
          <p:cNvGrpSpPr/>
          <p:nvPr/>
        </p:nvGrpSpPr>
        <p:grpSpPr>
          <a:xfrm>
            <a:off x="771858" y="840740"/>
            <a:ext cx="3112429" cy="964277"/>
            <a:chOff x="1281648" y="840740"/>
            <a:chExt cx="3112429" cy="964277"/>
          </a:xfrm>
        </p:grpSpPr>
        <p:sp>
          <p:nvSpPr>
            <p:cNvPr id="15" name="矩形 14"/>
            <p:cNvSpPr/>
            <p:nvPr/>
          </p:nvSpPr>
          <p:spPr>
            <a:xfrm>
              <a:off x="1281648" y="840740"/>
              <a:ext cx="3112429" cy="9642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1330546" y="907380"/>
              <a:ext cx="296432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 smtClean="0"/>
                <a:t>main.sh</a:t>
              </a:r>
              <a:r>
                <a:rPr lang="zh-TW" altLang="en-US" sz="1600" dirty="0" smtClean="0"/>
                <a:t>依照</a:t>
              </a:r>
              <a:r>
                <a:rPr lang="en-US" altLang="zh-TW" sz="1600" dirty="0" smtClean="0"/>
                <a:t>ip_list.txt</a:t>
              </a:r>
              <a:r>
                <a:rPr lang="zh-TW" altLang="en-US" sz="1600" dirty="0" smtClean="0"/>
                <a:t>內的參數</a:t>
              </a:r>
              <a:endParaRPr lang="en-US" altLang="zh-TW" sz="1600" dirty="0" smtClean="0"/>
            </a:p>
            <a:p>
              <a:r>
                <a:rPr lang="zh-TW" altLang="en-US" sz="1600" dirty="0"/>
                <a:t>重新</a:t>
              </a:r>
              <a:r>
                <a:rPr lang="zh-TW" altLang="en-US" sz="1600" dirty="0" smtClean="0"/>
                <a:t>設定</a:t>
              </a:r>
              <a:r>
                <a:rPr lang="en-US" altLang="zh-TW" sz="1600" dirty="0" smtClean="0"/>
                <a:t>b_set_netns.sh</a:t>
              </a:r>
            </a:p>
            <a:p>
              <a:r>
                <a:rPr lang="zh-TW" altLang="en-US" sz="1600" dirty="0"/>
                <a:t>並</a:t>
              </a:r>
              <a:r>
                <a:rPr lang="zh-TW" altLang="en-US" sz="1600" dirty="0" smtClean="0"/>
                <a:t>根據</a:t>
              </a:r>
              <a:r>
                <a:rPr lang="en-US" altLang="zh-TW" sz="1600" dirty="0" smtClean="0"/>
                <a:t>mode</a:t>
              </a:r>
              <a:r>
                <a:rPr lang="zh-TW" altLang="en-US" sz="1600" dirty="0" smtClean="0"/>
                <a:t>分別執行不同測試</a:t>
              </a:r>
              <a:endParaRPr lang="zh-TW" altLang="en-US" sz="1600" dirty="0"/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282378" y="2132846"/>
            <a:ext cx="1995054" cy="964277"/>
            <a:chOff x="1330546" y="4882917"/>
            <a:chExt cx="1995054" cy="964277"/>
          </a:xfrm>
        </p:grpSpPr>
        <p:sp>
          <p:nvSpPr>
            <p:cNvPr id="16" name="矩形 15"/>
            <p:cNvSpPr/>
            <p:nvPr/>
          </p:nvSpPr>
          <p:spPr>
            <a:xfrm>
              <a:off x="1330546" y="4882917"/>
              <a:ext cx="1995054" cy="9642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1480175" y="5072668"/>
              <a:ext cx="169579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00" dirty="0" smtClean="0"/>
                <a:t>Mode</a:t>
              </a:r>
              <a:r>
                <a:rPr lang="zh-TW" altLang="en-US" sz="1500" dirty="0" smtClean="0"/>
                <a:t>為</a:t>
              </a:r>
              <a:r>
                <a:rPr lang="en-US" altLang="zh-TW" sz="1500" dirty="0" smtClean="0"/>
                <a:t>1</a:t>
              </a:r>
            </a:p>
            <a:p>
              <a:r>
                <a:rPr lang="zh-TW" altLang="en-US" sz="1500" dirty="0" smtClean="0"/>
                <a:t>執行</a:t>
              </a:r>
              <a:r>
                <a:rPr lang="en-US" altLang="zh-TW" sz="1500" dirty="0" smtClean="0"/>
                <a:t>pkt_test.sh</a:t>
              </a:r>
              <a:endParaRPr lang="zh-TW" altLang="en-US" sz="1500" dirty="0"/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2457541" y="2132845"/>
            <a:ext cx="1995054" cy="964277"/>
            <a:chOff x="1330546" y="4882917"/>
            <a:chExt cx="1995054" cy="964277"/>
          </a:xfrm>
        </p:grpSpPr>
        <p:sp>
          <p:nvSpPr>
            <p:cNvPr id="33" name="矩形 32"/>
            <p:cNvSpPr/>
            <p:nvPr/>
          </p:nvSpPr>
          <p:spPr>
            <a:xfrm>
              <a:off x="1330546" y="4882917"/>
              <a:ext cx="1995054" cy="9642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1509780" y="5072668"/>
              <a:ext cx="1632941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00" dirty="0" smtClean="0"/>
                <a:t>Mode</a:t>
              </a:r>
              <a:r>
                <a:rPr lang="zh-TW" altLang="en-US" sz="1500" dirty="0" smtClean="0"/>
                <a:t>為</a:t>
              </a:r>
              <a:r>
                <a:rPr lang="en-US" altLang="zh-TW" sz="1500" dirty="0" smtClean="0"/>
                <a:t>2</a:t>
              </a:r>
            </a:p>
            <a:p>
              <a:r>
                <a:rPr lang="zh-TW" altLang="en-US" sz="1500" dirty="0" smtClean="0"/>
                <a:t>執行</a:t>
              </a:r>
              <a:r>
                <a:rPr lang="en-US" altLang="zh-TW" sz="1500" dirty="0" smtClean="0"/>
                <a:t>ping_test.sh</a:t>
              </a:r>
              <a:endParaRPr lang="zh-TW" altLang="en-US" sz="1500" dirty="0"/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4632704" y="2132844"/>
            <a:ext cx="1995054" cy="964277"/>
            <a:chOff x="1330546" y="4882917"/>
            <a:chExt cx="1995054" cy="964277"/>
          </a:xfrm>
        </p:grpSpPr>
        <p:sp>
          <p:nvSpPr>
            <p:cNvPr id="36" name="矩形 35"/>
            <p:cNvSpPr/>
            <p:nvPr/>
          </p:nvSpPr>
          <p:spPr>
            <a:xfrm>
              <a:off x="1330546" y="4882917"/>
              <a:ext cx="1995054" cy="9642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文字方塊 36"/>
            <p:cNvSpPr txBox="1"/>
            <p:nvPr/>
          </p:nvSpPr>
          <p:spPr>
            <a:xfrm>
              <a:off x="1480175" y="5072668"/>
              <a:ext cx="16957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 smtClean="0"/>
                <a:t>Mode</a:t>
              </a:r>
              <a:r>
                <a:rPr lang="zh-TW" altLang="en-US" sz="1600" dirty="0" smtClean="0"/>
                <a:t>為</a:t>
              </a:r>
              <a:r>
                <a:rPr lang="en-US" altLang="zh-TW" sz="1600" dirty="0"/>
                <a:t>3</a:t>
              </a:r>
              <a:endParaRPr lang="en-US" altLang="zh-TW" sz="1600" dirty="0" smtClean="0"/>
            </a:p>
            <a:p>
              <a:r>
                <a:rPr lang="zh-TW" altLang="en-US" sz="1600" dirty="0" smtClean="0"/>
                <a:t>執行</a:t>
              </a:r>
              <a:r>
                <a:rPr lang="en-US" altLang="zh-TW" sz="1600" dirty="0" smtClean="0"/>
                <a:t>tcp_test.sh</a:t>
              </a:r>
              <a:endParaRPr lang="zh-TW" altLang="en-US" sz="1600" dirty="0"/>
            </a:p>
          </p:txBody>
        </p:sp>
      </p:grpSp>
      <p:cxnSp>
        <p:nvCxnSpPr>
          <p:cNvPr id="41" name="直線單箭頭接點 40"/>
          <p:cNvCxnSpPr/>
          <p:nvPr/>
        </p:nvCxnSpPr>
        <p:spPr>
          <a:xfrm flipH="1">
            <a:off x="3447958" y="1778118"/>
            <a:ext cx="438" cy="341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3884287" y="1805017"/>
            <a:ext cx="736140" cy="326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11" idx="1"/>
            <a:endCxn id="15" idx="3"/>
          </p:cNvCxnSpPr>
          <p:nvPr/>
        </p:nvCxnSpPr>
        <p:spPr>
          <a:xfrm flipH="1" flipV="1">
            <a:off x="3884287" y="1322879"/>
            <a:ext cx="69689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群組 55"/>
          <p:cNvGrpSpPr/>
          <p:nvPr/>
        </p:nvGrpSpPr>
        <p:grpSpPr>
          <a:xfrm>
            <a:off x="248999" y="5781081"/>
            <a:ext cx="1995054" cy="836899"/>
            <a:chOff x="1330546" y="4882917"/>
            <a:chExt cx="1995054" cy="964277"/>
          </a:xfrm>
        </p:grpSpPr>
        <p:sp>
          <p:nvSpPr>
            <p:cNvPr id="57" name="矩形 56"/>
            <p:cNvSpPr/>
            <p:nvPr/>
          </p:nvSpPr>
          <p:spPr>
            <a:xfrm>
              <a:off x="1330546" y="4882917"/>
              <a:ext cx="1995054" cy="9642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1376203" y="5072667"/>
              <a:ext cx="1910330" cy="602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dirty="0" smtClean="0"/>
                <a:t>輸出</a:t>
              </a:r>
              <a:r>
                <a:rPr lang="en-US" altLang="zh-TW" sz="1400" dirty="0" smtClean="0"/>
                <a:t>error.txt</a:t>
              </a:r>
            </a:p>
            <a:p>
              <a:r>
                <a:rPr lang="zh-TW" altLang="en-US" sz="1400" dirty="0"/>
                <a:t>程式繼續下一</a:t>
              </a:r>
              <a:r>
                <a:rPr lang="zh-TW" altLang="en-US" sz="1400" dirty="0" smtClean="0"/>
                <a:t>組</a:t>
              </a:r>
              <a:r>
                <a:rPr lang="en-US" altLang="zh-TW" sz="1400" dirty="0" smtClean="0"/>
                <a:t>case</a:t>
              </a:r>
              <a:endParaRPr lang="zh-TW" altLang="en-US" sz="1400" dirty="0"/>
            </a:p>
          </p:txBody>
        </p:sp>
      </p:grpSp>
      <p:grpSp>
        <p:nvGrpSpPr>
          <p:cNvPr id="84" name="群組 83"/>
          <p:cNvGrpSpPr/>
          <p:nvPr/>
        </p:nvGrpSpPr>
        <p:grpSpPr>
          <a:xfrm>
            <a:off x="2369127" y="5787137"/>
            <a:ext cx="4221398" cy="830843"/>
            <a:chOff x="2369127" y="5787137"/>
            <a:chExt cx="4221398" cy="830843"/>
          </a:xfrm>
        </p:grpSpPr>
        <p:sp>
          <p:nvSpPr>
            <p:cNvPr id="60" name="矩形 59"/>
            <p:cNvSpPr/>
            <p:nvPr/>
          </p:nvSpPr>
          <p:spPr>
            <a:xfrm>
              <a:off x="2369127" y="5787137"/>
              <a:ext cx="4221398" cy="83084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3267621" y="6033281"/>
              <a:ext cx="24244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dirty="0" smtClean="0"/>
                <a:t>輸出結果至</a:t>
              </a:r>
              <a:r>
                <a:rPr lang="en-US" altLang="zh-TW" sz="1600" dirty="0" smtClean="0"/>
                <a:t>final_result.txt</a:t>
              </a:r>
              <a:endParaRPr lang="zh-TW" altLang="en-US" sz="1600" dirty="0"/>
            </a:p>
          </p:txBody>
        </p:sp>
      </p:grpSp>
      <p:grpSp>
        <p:nvGrpSpPr>
          <p:cNvPr id="46" name="群組 45"/>
          <p:cNvGrpSpPr/>
          <p:nvPr/>
        </p:nvGrpSpPr>
        <p:grpSpPr>
          <a:xfrm>
            <a:off x="294656" y="3424946"/>
            <a:ext cx="1995054" cy="964277"/>
            <a:chOff x="1330546" y="4882917"/>
            <a:chExt cx="1995054" cy="964277"/>
          </a:xfrm>
        </p:grpSpPr>
        <p:sp>
          <p:nvSpPr>
            <p:cNvPr id="47" name="矩形 46"/>
            <p:cNvSpPr/>
            <p:nvPr/>
          </p:nvSpPr>
          <p:spPr>
            <a:xfrm>
              <a:off x="1330546" y="4882917"/>
              <a:ext cx="1995054" cy="9642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文字方塊 47"/>
            <p:cNvSpPr txBox="1"/>
            <p:nvPr/>
          </p:nvSpPr>
          <p:spPr>
            <a:xfrm>
              <a:off x="1480175" y="5072668"/>
              <a:ext cx="16957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 smtClean="0"/>
                <a:t>pkt_test.sh</a:t>
              </a:r>
              <a:r>
                <a:rPr lang="zh-TW" altLang="en-US" sz="1600" dirty="0" smtClean="0"/>
                <a:t>執行</a:t>
              </a:r>
              <a:r>
                <a:rPr lang="en-US" altLang="zh-TW" sz="1600" dirty="0" smtClean="0"/>
                <a:t>icmp_analyze.sh</a:t>
              </a:r>
              <a:endParaRPr lang="zh-TW" altLang="en-US" sz="1600" dirty="0"/>
            </a:p>
          </p:txBody>
        </p:sp>
      </p:grpSp>
      <p:grpSp>
        <p:nvGrpSpPr>
          <p:cNvPr id="68" name="群組 67"/>
          <p:cNvGrpSpPr/>
          <p:nvPr/>
        </p:nvGrpSpPr>
        <p:grpSpPr>
          <a:xfrm>
            <a:off x="4620427" y="3424946"/>
            <a:ext cx="1995054" cy="964277"/>
            <a:chOff x="1330546" y="4882917"/>
            <a:chExt cx="1995054" cy="964277"/>
          </a:xfrm>
        </p:grpSpPr>
        <p:sp>
          <p:nvSpPr>
            <p:cNvPr id="69" name="矩形 68"/>
            <p:cNvSpPr/>
            <p:nvPr/>
          </p:nvSpPr>
          <p:spPr>
            <a:xfrm>
              <a:off x="1330546" y="4882917"/>
              <a:ext cx="1995054" cy="9642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1480175" y="5072668"/>
              <a:ext cx="16957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 smtClean="0"/>
                <a:t>tcp_test.sh</a:t>
              </a:r>
              <a:r>
                <a:rPr lang="zh-TW" altLang="en-US" sz="1600" dirty="0" smtClean="0"/>
                <a:t>執行</a:t>
              </a:r>
              <a:r>
                <a:rPr lang="en-US" altLang="zh-TW" sz="1600" dirty="0" smtClean="0"/>
                <a:t>tcp_analyze.sh</a:t>
              </a:r>
              <a:endParaRPr lang="zh-TW" altLang="en-US" sz="1600" dirty="0"/>
            </a:p>
          </p:txBody>
        </p:sp>
      </p:grpSp>
      <p:cxnSp>
        <p:nvCxnSpPr>
          <p:cNvPr id="74" name="直線單箭頭接點 73"/>
          <p:cNvCxnSpPr/>
          <p:nvPr/>
        </p:nvCxnSpPr>
        <p:spPr>
          <a:xfrm>
            <a:off x="1221971" y="3105327"/>
            <a:ext cx="0" cy="327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>
            <a:off x="2923890" y="3102898"/>
            <a:ext cx="0" cy="1262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>
            <a:off x="5585275" y="3105326"/>
            <a:ext cx="0" cy="327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字方塊 82"/>
          <p:cNvSpPr txBox="1"/>
          <p:nvPr/>
        </p:nvSpPr>
        <p:spPr>
          <a:xfrm>
            <a:off x="8875878" y="5966019"/>
            <a:ext cx="2855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/>
              <a:t>control.py </a:t>
            </a:r>
            <a:r>
              <a:rPr lang="zh-TW" altLang="en-US" sz="1400" dirty="0" smtClean="0"/>
              <a:t>透過 </a:t>
            </a:r>
            <a:r>
              <a:rPr lang="en-US" altLang="zh-TW" sz="1400" dirty="0" smtClean="0"/>
              <a:t>SSH </a:t>
            </a:r>
            <a:r>
              <a:rPr lang="zh-TW" altLang="en-US" sz="1400" dirty="0" smtClean="0"/>
              <a:t>抓回</a:t>
            </a:r>
            <a:r>
              <a:rPr lang="en-US" altLang="zh-TW" sz="1400" dirty="0" err="1" smtClean="0"/>
              <a:t>final_result</a:t>
            </a:r>
            <a:endParaRPr lang="zh-TW" altLang="en-US" sz="1400" dirty="0"/>
          </a:p>
        </p:txBody>
      </p:sp>
      <p:sp>
        <p:nvSpPr>
          <p:cNvPr id="85" name="菱形 84"/>
          <p:cNvSpPr/>
          <p:nvPr/>
        </p:nvSpPr>
        <p:spPr>
          <a:xfrm>
            <a:off x="2113765" y="4376543"/>
            <a:ext cx="1632942" cy="95606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文字方塊 85"/>
          <p:cNvSpPr txBox="1"/>
          <p:nvPr/>
        </p:nvSpPr>
        <p:spPr>
          <a:xfrm>
            <a:off x="2288510" y="4700687"/>
            <a:ext cx="1283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 smtClean="0"/>
              <a:t>是否正確執行</a:t>
            </a:r>
            <a:r>
              <a:rPr lang="en-US" altLang="zh-TW" sz="1400" dirty="0" smtClean="0"/>
              <a:t>?</a:t>
            </a:r>
            <a:endParaRPr lang="zh-TW" altLang="en-US" sz="1400" dirty="0"/>
          </a:p>
        </p:txBody>
      </p:sp>
      <p:cxnSp>
        <p:nvCxnSpPr>
          <p:cNvPr id="97" name="直線單箭頭接點 96"/>
          <p:cNvCxnSpPr/>
          <p:nvPr/>
        </p:nvCxnSpPr>
        <p:spPr>
          <a:xfrm flipH="1">
            <a:off x="1468315" y="1751218"/>
            <a:ext cx="438" cy="341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單箭頭接點 107"/>
          <p:cNvCxnSpPr>
            <a:endCxn id="85" idx="3"/>
          </p:cNvCxnSpPr>
          <p:nvPr/>
        </p:nvCxnSpPr>
        <p:spPr>
          <a:xfrm flipH="1">
            <a:off x="3746707" y="4854575"/>
            <a:ext cx="101479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/>
          <p:cNvCxnSpPr>
            <a:stCxn id="85" idx="2"/>
            <a:endCxn id="60" idx="0"/>
          </p:cNvCxnSpPr>
          <p:nvPr/>
        </p:nvCxnSpPr>
        <p:spPr>
          <a:xfrm>
            <a:off x="2930236" y="5332608"/>
            <a:ext cx="1549590" cy="454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單箭頭接點 111"/>
          <p:cNvCxnSpPr>
            <a:stCxn id="85" idx="2"/>
            <a:endCxn id="57" idx="0"/>
          </p:cNvCxnSpPr>
          <p:nvPr/>
        </p:nvCxnSpPr>
        <p:spPr>
          <a:xfrm flipH="1">
            <a:off x="1246526" y="5332608"/>
            <a:ext cx="1683710" cy="448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字方塊 113"/>
          <p:cNvSpPr txBox="1"/>
          <p:nvPr/>
        </p:nvSpPr>
        <p:spPr>
          <a:xfrm>
            <a:off x="1907771" y="5213468"/>
            <a:ext cx="523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no</a:t>
            </a:r>
            <a:endParaRPr lang="zh-TW" altLang="en-US" dirty="0"/>
          </a:p>
        </p:txBody>
      </p:sp>
      <p:sp>
        <p:nvSpPr>
          <p:cNvPr id="115" name="文字方塊 114"/>
          <p:cNvSpPr txBox="1"/>
          <p:nvPr/>
        </p:nvSpPr>
        <p:spPr>
          <a:xfrm>
            <a:off x="3447958" y="5140390"/>
            <a:ext cx="523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yes</a:t>
            </a:r>
            <a:endParaRPr lang="zh-TW" altLang="en-US" dirty="0"/>
          </a:p>
        </p:txBody>
      </p:sp>
      <p:grpSp>
        <p:nvGrpSpPr>
          <p:cNvPr id="116" name="群組 115"/>
          <p:cNvGrpSpPr/>
          <p:nvPr/>
        </p:nvGrpSpPr>
        <p:grpSpPr>
          <a:xfrm>
            <a:off x="297275" y="4578974"/>
            <a:ext cx="1421637" cy="684527"/>
            <a:chOff x="1330546" y="4882917"/>
            <a:chExt cx="1995054" cy="964277"/>
          </a:xfrm>
        </p:grpSpPr>
        <p:sp>
          <p:nvSpPr>
            <p:cNvPr id="117" name="矩形 116"/>
            <p:cNvSpPr/>
            <p:nvPr/>
          </p:nvSpPr>
          <p:spPr>
            <a:xfrm>
              <a:off x="1330546" y="4882917"/>
              <a:ext cx="1995054" cy="9642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8" name="文字方塊 117"/>
            <p:cNvSpPr txBox="1"/>
            <p:nvPr/>
          </p:nvSpPr>
          <p:spPr>
            <a:xfrm>
              <a:off x="1480175" y="5072669"/>
              <a:ext cx="1695797" cy="6069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100" dirty="0" smtClean="0"/>
                <a:t>輸出 </a:t>
              </a:r>
              <a:r>
                <a:rPr lang="en-US" altLang="zh-TW" sz="1100" dirty="0" smtClean="0"/>
                <a:t>detail report</a:t>
              </a:r>
            </a:p>
            <a:p>
              <a:r>
                <a:rPr lang="zh-TW" altLang="en-US" sz="1100" dirty="0" smtClean="0"/>
                <a:t>到 </a:t>
              </a:r>
              <a:r>
                <a:rPr lang="en-US" altLang="zh-TW" sz="1100" dirty="0" smtClean="0"/>
                <a:t>Result Folder</a:t>
              </a:r>
              <a:endParaRPr lang="zh-TW" altLang="en-US" sz="1100" dirty="0"/>
            </a:p>
          </p:txBody>
        </p:sp>
      </p:grpSp>
      <p:cxnSp>
        <p:nvCxnSpPr>
          <p:cNvPr id="120" name="直線單箭頭接點 119"/>
          <p:cNvCxnSpPr/>
          <p:nvPr/>
        </p:nvCxnSpPr>
        <p:spPr>
          <a:xfrm flipH="1">
            <a:off x="1005840" y="4330931"/>
            <a:ext cx="2254" cy="248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群組 120"/>
          <p:cNvGrpSpPr/>
          <p:nvPr/>
        </p:nvGrpSpPr>
        <p:grpSpPr>
          <a:xfrm>
            <a:off x="5187333" y="4645065"/>
            <a:ext cx="1421637" cy="684527"/>
            <a:chOff x="1330546" y="4882917"/>
            <a:chExt cx="1995054" cy="964277"/>
          </a:xfrm>
        </p:grpSpPr>
        <p:sp>
          <p:nvSpPr>
            <p:cNvPr id="122" name="矩形 121"/>
            <p:cNvSpPr/>
            <p:nvPr/>
          </p:nvSpPr>
          <p:spPr>
            <a:xfrm>
              <a:off x="1330546" y="4882917"/>
              <a:ext cx="1995054" cy="9642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3" name="文字方塊 122"/>
            <p:cNvSpPr txBox="1"/>
            <p:nvPr/>
          </p:nvSpPr>
          <p:spPr>
            <a:xfrm>
              <a:off x="1480175" y="5072669"/>
              <a:ext cx="1695797" cy="6069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100" dirty="0" smtClean="0"/>
                <a:t>輸出 </a:t>
              </a:r>
              <a:r>
                <a:rPr lang="en-US" altLang="zh-TW" sz="1100" dirty="0" smtClean="0"/>
                <a:t>detail report</a:t>
              </a:r>
            </a:p>
            <a:p>
              <a:r>
                <a:rPr lang="zh-TW" altLang="en-US" sz="1100" dirty="0" smtClean="0"/>
                <a:t>到 </a:t>
              </a:r>
              <a:r>
                <a:rPr lang="en-US" altLang="zh-TW" sz="1100" dirty="0" smtClean="0"/>
                <a:t>Result Folder</a:t>
              </a:r>
              <a:endParaRPr lang="zh-TW" altLang="en-US" sz="1100" dirty="0"/>
            </a:p>
          </p:txBody>
        </p:sp>
      </p:grpSp>
      <p:cxnSp>
        <p:nvCxnSpPr>
          <p:cNvPr id="124" name="直線單箭頭接點 123"/>
          <p:cNvCxnSpPr/>
          <p:nvPr/>
        </p:nvCxnSpPr>
        <p:spPr>
          <a:xfrm flipH="1">
            <a:off x="5895898" y="4397022"/>
            <a:ext cx="2254" cy="248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群組 127"/>
          <p:cNvGrpSpPr/>
          <p:nvPr/>
        </p:nvGrpSpPr>
        <p:grpSpPr>
          <a:xfrm>
            <a:off x="3054273" y="3359973"/>
            <a:ext cx="1421637" cy="684527"/>
            <a:chOff x="1330546" y="4882917"/>
            <a:chExt cx="1995054" cy="964277"/>
          </a:xfrm>
        </p:grpSpPr>
        <p:sp>
          <p:nvSpPr>
            <p:cNvPr id="129" name="矩形 128"/>
            <p:cNvSpPr/>
            <p:nvPr/>
          </p:nvSpPr>
          <p:spPr>
            <a:xfrm>
              <a:off x="1330546" y="4882917"/>
              <a:ext cx="1995054" cy="9642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0" name="文字方塊 129"/>
            <p:cNvSpPr txBox="1"/>
            <p:nvPr/>
          </p:nvSpPr>
          <p:spPr>
            <a:xfrm>
              <a:off x="1480175" y="5072669"/>
              <a:ext cx="1695797" cy="6069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100" dirty="0" smtClean="0"/>
                <a:t>輸出</a:t>
              </a:r>
              <a:r>
                <a:rPr lang="en-US" altLang="zh-TW" sz="1100" dirty="0" smtClean="0"/>
                <a:t>detail report</a:t>
              </a:r>
            </a:p>
            <a:p>
              <a:r>
                <a:rPr lang="zh-TW" altLang="en-US" sz="1100" dirty="0" smtClean="0"/>
                <a:t>到</a:t>
              </a:r>
              <a:r>
                <a:rPr lang="en-US" altLang="zh-TW" sz="1100" dirty="0" smtClean="0"/>
                <a:t>Result Folder</a:t>
              </a:r>
              <a:endParaRPr lang="zh-TW" altLang="en-US" sz="1100" dirty="0"/>
            </a:p>
          </p:txBody>
        </p:sp>
      </p:grpSp>
      <p:cxnSp>
        <p:nvCxnSpPr>
          <p:cNvPr id="131" name="直線單箭頭接點 130"/>
          <p:cNvCxnSpPr/>
          <p:nvPr/>
        </p:nvCxnSpPr>
        <p:spPr>
          <a:xfrm flipH="1">
            <a:off x="3762838" y="3083365"/>
            <a:ext cx="2253" cy="276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接點 140"/>
          <p:cNvCxnSpPr/>
          <p:nvPr/>
        </p:nvCxnSpPr>
        <p:spPr>
          <a:xfrm flipV="1">
            <a:off x="4761500" y="4387170"/>
            <a:ext cx="0" cy="4674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/>
          <p:cNvCxnSpPr/>
          <p:nvPr/>
        </p:nvCxnSpPr>
        <p:spPr>
          <a:xfrm>
            <a:off x="1887472" y="4307610"/>
            <a:ext cx="0" cy="546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單箭頭接點 148"/>
          <p:cNvCxnSpPr>
            <a:endCxn id="85" idx="1"/>
          </p:cNvCxnSpPr>
          <p:nvPr/>
        </p:nvCxnSpPr>
        <p:spPr>
          <a:xfrm>
            <a:off x="1887472" y="4854575"/>
            <a:ext cx="22629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單箭頭接點 151"/>
          <p:cNvCxnSpPr/>
          <p:nvPr/>
        </p:nvCxnSpPr>
        <p:spPr>
          <a:xfrm flipH="1">
            <a:off x="6786211" y="1475463"/>
            <a:ext cx="17343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直線單箭頭接點 153"/>
          <p:cNvCxnSpPr/>
          <p:nvPr/>
        </p:nvCxnSpPr>
        <p:spPr>
          <a:xfrm>
            <a:off x="6786211" y="6333510"/>
            <a:ext cx="17343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0565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7683" y="108065"/>
            <a:ext cx="6662286" cy="66584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8520545" y="108065"/>
            <a:ext cx="3566160" cy="665018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224444" y="224443"/>
            <a:ext cx="1729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Client (</a:t>
            </a:r>
            <a:r>
              <a:rPr lang="zh-TW" altLang="en-US" dirty="0" smtClean="0"/>
              <a:t>待測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8574578" y="224443"/>
            <a:ext cx="3029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Server (Control Panel)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8711738" y="731520"/>
            <a:ext cx="3183775" cy="47427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4620427" y="840742"/>
            <a:ext cx="1995054" cy="3929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8875878" y="840741"/>
            <a:ext cx="285549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 smtClean="0"/>
              <a:t>設定</a:t>
            </a:r>
            <a:r>
              <a:rPr lang="en-US" altLang="zh-TW" sz="1400" dirty="0" smtClean="0"/>
              <a:t>ip_list.txt</a:t>
            </a:r>
          </a:p>
          <a:p>
            <a:r>
              <a:rPr lang="en-US" altLang="zh-TW" sz="1400" dirty="0" smtClean="0"/>
              <a:t>(</a:t>
            </a:r>
            <a:r>
              <a:rPr lang="zh-TW" altLang="en-US" sz="1400" dirty="0" smtClean="0"/>
              <a:t>兩張虛擬網卡的</a:t>
            </a:r>
            <a:r>
              <a:rPr lang="en-US" altLang="zh-TW" sz="1400" dirty="0" smtClean="0"/>
              <a:t>namespace</a:t>
            </a:r>
          </a:p>
          <a:p>
            <a:r>
              <a:rPr lang="en-US" altLang="zh-TW" sz="1400" dirty="0" smtClean="0"/>
              <a:t>name/vid/base/ipv4/mask4/gw4/ipv6/mask6/gw6/</a:t>
            </a:r>
            <a:r>
              <a:rPr lang="en-US" altLang="zh-TW" sz="1400" dirty="0" err="1" smtClean="0"/>
              <a:t>gw</a:t>
            </a:r>
            <a:r>
              <a:rPr lang="en-US" altLang="zh-TW" sz="1400" dirty="0" smtClean="0"/>
              <a:t> mac/mode)</a:t>
            </a:r>
          </a:p>
          <a:p>
            <a:endParaRPr lang="en-US" altLang="zh-TW" sz="1400" dirty="0" smtClean="0"/>
          </a:p>
          <a:p>
            <a:r>
              <a:rPr lang="en-US" altLang="zh-TW" sz="1400" dirty="0" smtClean="0"/>
              <a:t>mode 1: through packet</a:t>
            </a:r>
          </a:p>
          <a:p>
            <a:r>
              <a:rPr lang="en-US" altLang="zh-TW" sz="1400" dirty="0" smtClean="0"/>
              <a:t>mode 2: through ping message</a:t>
            </a:r>
          </a:p>
          <a:p>
            <a:r>
              <a:rPr lang="en-US" altLang="zh-TW" sz="1400" dirty="0" smtClean="0"/>
              <a:t>mode 3: through </a:t>
            </a:r>
            <a:r>
              <a:rPr lang="en-US" altLang="zh-TW" sz="1400" dirty="0" err="1" smtClean="0"/>
              <a:t>tcp</a:t>
            </a:r>
            <a:endParaRPr lang="en-US" altLang="zh-TW" sz="1400" dirty="0" smtClean="0"/>
          </a:p>
          <a:p>
            <a:r>
              <a:rPr lang="en-US" altLang="zh-TW" sz="1400" dirty="0" smtClean="0"/>
              <a:t>Mode 4: exit</a:t>
            </a:r>
          </a:p>
          <a:p>
            <a:endParaRPr lang="en-US" altLang="zh-TW" sz="1400" dirty="0" smtClean="0"/>
          </a:p>
          <a:p>
            <a:r>
              <a:rPr lang="zh-TW" altLang="en-US" sz="1400" dirty="0" smtClean="0"/>
              <a:t>設定</a:t>
            </a:r>
            <a:r>
              <a:rPr lang="en-US" altLang="zh-TW" sz="1400" dirty="0" smtClean="0"/>
              <a:t>control.py (</a:t>
            </a:r>
            <a:r>
              <a:rPr lang="zh-TW" altLang="en-US" sz="1400" dirty="0" smtClean="0"/>
              <a:t>目標</a:t>
            </a:r>
            <a:r>
              <a:rPr lang="en-US" altLang="zh-TW" sz="1400" dirty="0" err="1" smtClean="0"/>
              <a:t>ip</a:t>
            </a:r>
            <a:r>
              <a:rPr lang="en-US" altLang="zh-TW" sz="1400" dirty="0" smtClean="0"/>
              <a:t> </a:t>
            </a:r>
            <a:r>
              <a:rPr lang="en-US" altLang="zh-TW" sz="1400" dirty="0" err="1" smtClean="0"/>
              <a:t>addr</a:t>
            </a:r>
            <a:r>
              <a:rPr lang="en-US" altLang="zh-TW" sz="1400" dirty="0" smtClean="0"/>
              <a:t>/port/user/</a:t>
            </a:r>
            <a:r>
              <a:rPr lang="en-US" altLang="zh-TW" sz="1400" dirty="0" err="1" smtClean="0"/>
              <a:t>passwd</a:t>
            </a:r>
            <a:r>
              <a:rPr lang="en-US" altLang="zh-TW" sz="1400" dirty="0" smtClean="0"/>
              <a:t>)</a:t>
            </a:r>
          </a:p>
          <a:p>
            <a:endParaRPr lang="en-US" altLang="zh-TW" sz="1400" dirty="0" smtClean="0"/>
          </a:p>
          <a:p>
            <a:r>
              <a:rPr lang="zh-TW" altLang="en-US" sz="1400" dirty="0" smtClean="0"/>
              <a:t>執行</a:t>
            </a:r>
            <a:r>
              <a:rPr lang="en-US" altLang="zh-TW" sz="1400" dirty="0" smtClean="0"/>
              <a:t>control.py</a:t>
            </a:r>
            <a:endParaRPr lang="zh-TW" altLang="en-US" sz="1400" dirty="0"/>
          </a:p>
        </p:txBody>
      </p:sp>
      <p:sp>
        <p:nvSpPr>
          <p:cNvPr id="21" name="矩形 20"/>
          <p:cNvSpPr/>
          <p:nvPr/>
        </p:nvSpPr>
        <p:spPr>
          <a:xfrm>
            <a:off x="8711738" y="5599227"/>
            <a:ext cx="3183775" cy="10065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4770056" y="910260"/>
            <a:ext cx="169579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 smtClean="0"/>
              <a:t>control.py</a:t>
            </a:r>
            <a:r>
              <a:rPr lang="zh-TW" altLang="en-US" sz="1050" dirty="0" smtClean="0"/>
              <a:t>遠端執行</a:t>
            </a:r>
            <a:r>
              <a:rPr lang="en-US" altLang="zh-TW" sz="1050" dirty="0" smtClean="0"/>
              <a:t>main.sh</a:t>
            </a:r>
            <a:endParaRPr lang="zh-TW" altLang="en-US" sz="105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6929387" y="799454"/>
            <a:ext cx="1695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 smtClean="0"/>
              <a:t>透過</a:t>
            </a:r>
            <a:r>
              <a:rPr lang="en-US" altLang="zh-TW" sz="1200" dirty="0" smtClean="0"/>
              <a:t>SSH</a:t>
            </a:r>
            <a:r>
              <a:rPr lang="zh-TW" altLang="en-US" sz="1200" dirty="0" smtClean="0"/>
              <a:t>連線至</a:t>
            </a:r>
            <a:r>
              <a:rPr lang="en-US" altLang="zh-TW" sz="1200" dirty="0" smtClean="0"/>
              <a:t>client</a:t>
            </a:r>
            <a:endParaRPr lang="zh-TW" altLang="en-US" sz="12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6753726" y="5994956"/>
            <a:ext cx="1695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 smtClean="0"/>
              <a:t>回傳</a:t>
            </a:r>
            <a:r>
              <a:rPr lang="en-US" altLang="zh-TW" sz="1600" dirty="0" smtClean="0"/>
              <a:t>control panel</a:t>
            </a:r>
            <a:endParaRPr lang="zh-TW" altLang="en-US" sz="1600" dirty="0"/>
          </a:p>
        </p:txBody>
      </p:sp>
      <p:grpSp>
        <p:nvGrpSpPr>
          <p:cNvPr id="31" name="群組 30"/>
          <p:cNvGrpSpPr/>
          <p:nvPr/>
        </p:nvGrpSpPr>
        <p:grpSpPr>
          <a:xfrm>
            <a:off x="288517" y="840740"/>
            <a:ext cx="3986229" cy="964277"/>
            <a:chOff x="1281648" y="840740"/>
            <a:chExt cx="3112429" cy="964277"/>
          </a:xfrm>
        </p:grpSpPr>
        <p:sp>
          <p:nvSpPr>
            <p:cNvPr id="15" name="矩形 14"/>
            <p:cNvSpPr/>
            <p:nvPr/>
          </p:nvSpPr>
          <p:spPr>
            <a:xfrm>
              <a:off x="1281648" y="840740"/>
              <a:ext cx="3112429" cy="9642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1330546" y="907380"/>
              <a:ext cx="296432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 smtClean="0"/>
                <a:t>main.sh</a:t>
              </a:r>
              <a:r>
                <a:rPr lang="zh-TW" altLang="en-US" sz="1600" dirty="0" smtClean="0"/>
                <a:t>依照</a:t>
              </a:r>
              <a:r>
                <a:rPr lang="en-US" altLang="zh-TW" sz="1600" dirty="0" smtClean="0"/>
                <a:t>ip_list.txt</a:t>
              </a:r>
              <a:r>
                <a:rPr lang="zh-TW" altLang="en-US" sz="1600" dirty="0" smtClean="0"/>
                <a:t>內的參數</a:t>
              </a:r>
              <a:endParaRPr lang="en-US" altLang="zh-TW" sz="1600" dirty="0" smtClean="0"/>
            </a:p>
            <a:p>
              <a:r>
                <a:rPr lang="zh-TW" altLang="en-US" sz="1600" dirty="0"/>
                <a:t>重新</a:t>
              </a:r>
              <a:r>
                <a:rPr lang="zh-TW" altLang="en-US" sz="1600" dirty="0" smtClean="0"/>
                <a:t>設定</a:t>
              </a:r>
              <a:r>
                <a:rPr lang="en-US" altLang="zh-TW" sz="1600" dirty="0" smtClean="0"/>
                <a:t>b_set_netns.sh</a:t>
              </a:r>
            </a:p>
            <a:p>
              <a:r>
                <a:rPr lang="zh-TW" altLang="en-US" sz="1600" dirty="0"/>
                <a:t>並</a:t>
              </a:r>
              <a:r>
                <a:rPr lang="zh-TW" altLang="en-US" sz="1600" dirty="0" smtClean="0"/>
                <a:t>根據</a:t>
              </a:r>
              <a:r>
                <a:rPr lang="en-US" altLang="zh-TW" sz="1600" dirty="0" smtClean="0"/>
                <a:t>mode</a:t>
              </a:r>
              <a:r>
                <a:rPr lang="zh-TW" altLang="en-US" sz="1600" dirty="0" smtClean="0"/>
                <a:t>分別執行不同測試</a:t>
              </a:r>
              <a:endParaRPr lang="zh-TW" altLang="en-US" sz="1600" dirty="0"/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288517" y="1985528"/>
            <a:ext cx="1995054" cy="964277"/>
            <a:chOff x="1330546" y="4888069"/>
            <a:chExt cx="1995054" cy="964277"/>
          </a:xfrm>
        </p:grpSpPr>
        <p:sp>
          <p:nvSpPr>
            <p:cNvPr id="16" name="矩形 15"/>
            <p:cNvSpPr/>
            <p:nvPr/>
          </p:nvSpPr>
          <p:spPr>
            <a:xfrm>
              <a:off x="1330546" y="4888069"/>
              <a:ext cx="1995054" cy="9642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1353375" y="4977792"/>
              <a:ext cx="194939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050" dirty="0" smtClean="0"/>
                <a:t>Mode</a:t>
              </a:r>
              <a:r>
                <a:rPr lang="zh-TW" altLang="en-US" sz="1050" dirty="0" smtClean="0"/>
                <a:t>為</a:t>
              </a:r>
              <a:r>
                <a:rPr lang="en-US" altLang="zh-TW" sz="1050" dirty="0" smtClean="0"/>
                <a:t>1:</a:t>
              </a:r>
              <a:r>
                <a:rPr lang="zh-TW" altLang="en-US" sz="1050" dirty="0" smtClean="0"/>
                <a:t>執行</a:t>
              </a:r>
              <a:r>
                <a:rPr lang="en-US" altLang="zh-TW" sz="1050" dirty="0" smtClean="0"/>
                <a:t>pkt_test.sh</a:t>
              </a:r>
            </a:p>
            <a:p>
              <a:pPr algn="ctr"/>
              <a:r>
                <a:rPr lang="zh-TW" altLang="en-US" sz="1050" dirty="0" smtClean="0"/>
                <a:t>首先在</a:t>
              </a:r>
              <a:r>
                <a:rPr lang="zh-TW" altLang="en-US" sz="1050" dirty="0"/>
                <a:t>背景</a:t>
              </a:r>
              <a:r>
                <a:rPr lang="en-US" altLang="zh-TW" sz="1050" dirty="0" smtClean="0"/>
                <a:t>ping net0 to net1</a:t>
              </a:r>
            </a:p>
            <a:p>
              <a:pPr algn="ctr"/>
              <a:r>
                <a:rPr lang="zh-TW" altLang="en-US" sz="1050" dirty="0" smtClean="0"/>
                <a:t>透過 </a:t>
              </a:r>
              <a:r>
                <a:rPr lang="en-US" altLang="zh-TW" sz="1050" dirty="0" err="1" smtClean="0"/>
                <a:t>tshark</a:t>
              </a:r>
              <a:r>
                <a:rPr lang="zh-TW" altLang="en-US" sz="1050" dirty="0" smtClean="0"/>
                <a:t> 截獲</a:t>
              </a:r>
              <a:r>
                <a:rPr lang="en-US" altLang="zh-TW" sz="1050" dirty="0" err="1" smtClean="0"/>
                <a:t>icmp</a:t>
              </a:r>
              <a:r>
                <a:rPr lang="zh-TW" altLang="en-US" sz="1050" dirty="0" smtClean="0"/>
                <a:t>類型封包並呼叫 </a:t>
              </a:r>
              <a:r>
                <a:rPr lang="en-US" altLang="zh-TW" sz="1050" dirty="0" smtClean="0"/>
                <a:t>icmp_analyze.sh</a:t>
              </a:r>
              <a:r>
                <a:rPr lang="zh-TW" altLang="en-US" sz="1050" dirty="0" smtClean="0"/>
                <a:t> 分析</a:t>
              </a:r>
              <a:endParaRPr lang="en-US" altLang="zh-TW" sz="1050" dirty="0" smtClean="0"/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2456307" y="1983167"/>
            <a:ext cx="1995054" cy="964277"/>
            <a:chOff x="1330546" y="4882917"/>
            <a:chExt cx="1995054" cy="964277"/>
          </a:xfrm>
        </p:grpSpPr>
        <p:sp>
          <p:nvSpPr>
            <p:cNvPr id="33" name="矩形 32"/>
            <p:cNvSpPr/>
            <p:nvPr/>
          </p:nvSpPr>
          <p:spPr>
            <a:xfrm>
              <a:off x="1330546" y="4882917"/>
              <a:ext cx="1995054" cy="9642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1417610" y="4980335"/>
              <a:ext cx="182092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050" dirty="0"/>
                <a:t>Mode</a:t>
              </a:r>
              <a:r>
                <a:rPr lang="zh-TW" altLang="en-US" sz="1050" dirty="0"/>
                <a:t>為</a:t>
              </a:r>
              <a:r>
                <a:rPr lang="en-US" altLang="zh-TW" sz="1050" dirty="0" smtClean="0"/>
                <a:t>2</a:t>
              </a:r>
              <a:r>
                <a:rPr lang="zh-TW" altLang="en-US" sz="1050" dirty="0" smtClean="0"/>
                <a:t> 執行</a:t>
              </a:r>
              <a:r>
                <a:rPr lang="en-US" altLang="zh-TW" sz="1050" dirty="0" smtClean="0"/>
                <a:t>ping_test.sh</a:t>
              </a:r>
            </a:p>
            <a:p>
              <a:pPr algn="ctr"/>
              <a:r>
                <a:rPr lang="zh-TW" altLang="en-US" sz="1050" dirty="0" smtClean="0"/>
                <a:t>首先</a:t>
              </a:r>
              <a:r>
                <a:rPr lang="en-US" altLang="zh-TW" sz="1050" dirty="0" smtClean="0"/>
                <a:t>ping net0 to net1</a:t>
              </a:r>
            </a:p>
            <a:p>
              <a:pPr algn="ctr"/>
              <a:r>
                <a:rPr lang="zh-TW" altLang="en-US" sz="1050" dirty="0"/>
                <a:t>將輸出在螢幕</a:t>
              </a:r>
              <a:r>
                <a:rPr lang="zh-TW" altLang="en-US" sz="1050" dirty="0" smtClean="0"/>
                <a:t>的結果紀錄</a:t>
              </a:r>
              <a:endParaRPr lang="en-US" altLang="zh-TW" sz="1050" dirty="0" smtClean="0"/>
            </a:p>
            <a:p>
              <a:pPr algn="ctr"/>
              <a:r>
                <a:rPr lang="zh-TW" altLang="en-US" sz="1050" dirty="0" smtClean="0"/>
                <a:t>並分析 </a:t>
              </a:r>
              <a:r>
                <a:rPr lang="en-US" altLang="zh-TW" sz="1050" dirty="0" smtClean="0"/>
                <a:t>ping success or not</a:t>
              </a: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4629634" y="1990639"/>
            <a:ext cx="1995054" cy="964277"/>
            <a:chOff x="1330546" y="4882917"/>
            <a:chExt cx="1995054" cy="964277"/>
          </a:xfrm>
        </p:grpSpPr>
        <p:sp>
          <p:nvSpPr>
            <p:cNvPr id="36" name="矩形 35"/>
            <p:cNvSpPr/>
            <p:nvPr/>
          </p:nvSpPr>
          <p:spPr>
            <a:xfrm>
              <a:off x="1330546" y="4882917"/>
              <a:ext cx="1995054" cy="9642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文字方塊 36"/>
            <p:cNvSpPr txBox="1"/>
            <p:nvPr/>
          </p:nvSpPr>
          <p:spPr>
            <a:xfrm>
              <a:off x="1377907" y="4995723"/>
              <a:ext cx="189617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050" dirty="0"/>
                <a:t>Mode</a:t>
              </a:r>
              <a:r>
                <a:rPr lang="zh-TW" altLang="en-US" sz="1050" dirty="0"/>
                <a:t>為</a:t>
              </a:r>
              <a:r>
                <a:rPr lang="en-US" altLang="zh-TW" sz="1050" dirty="0" smtClean="0"/>
                <a:t>3</a:t>
              </a:r>
              <a:r>
                <a:rPr lang="zh-TW" altLang="en-US" sz="1050" dirty="0" smtClean="0"/>
                <a:t> 執行</a:t>
              </a:r>
              <a:r>
                <a:rPr lang="en-US" altLang="zh-TW" sz="1050" dirty="0" smtClean="0"/>
                <a:t>tcp_test.sh</a:t>
              </a:r>
            </a:p>
            <a:p>
              <a:pPr algn="ctr"/>
              <a:r>
                <a:rPr lang="zh-TW" altLang="en-US" sz="1050" dirty="0"/>
                <a:t>直接</a:t>
              </a:r>
              <a:r>
                <a:rPr lang="zh-TW" altLang="en-US" sz="1050" dirty="0" smtClean="0"/>
                <a:t>透過</a:t>
              </a:r>
              <a:r>
                <a:rPr lang="en-US" altLang="zh-TW" sz="1050" dirty="0" err="1" smtClean="0"/>
                <a:t>tshark</a:t>
              </a:r>
              <a:r>
                <a:rPr lang="zh-TW" altLang="en-US" sz="1050" dirty="0" smtClean="0"/>
                <a:t>截獲</a:t>
              </a:r>
              <a:r>
                <a:rPr lang="en-US" altLang="zh-TW" sz="1050" dirty="0" err="1" smtClean="0"/>
                <a:t>tcp</a:t>
              </a:r>
              <a:r>
                <a:rPr lang="zh-TW" altLang="en-US" sz="1050" dirty="0" smtClean="0"/>
                <a:t>封包</a:t>
              </a:r>
              <a:endParaRPr lang="en-US" altLang="zh-TW" sz="1050" dirty="0" smtClean="0"/>
            </a:p>
            <a:p>
              <a:pPr algn="ctr"/>
              <a:r>
                <a:rPr lang="zh-TW" altLang="en-US" sz="1050" dirty="0" smtClean="0"/>
                <a:t>並呼叫 </a:t>
              </a:r>
              <a:r>
                <a:rPr lang="en-US" altLang="zh-TW" sz="1050" dirty="0" smtClean="0"/>
                <a:t>tcp_analyze.sh</a:t>
              </a:r>
              <a:r>
                <a:rPr lang="zh-TW" altLang="en-US" sz="1050" dirty="0" smtClean="0"/>
                <a:t>分析</a:t>
              </a:r>
              <a:endParaRPr lang="en-US" altLang="zh-TW" sz="1050" dirty="0" smtClean="0"/>
            </a:p>
            <a:p>
              <a:endParaRPr lang="zh-TW" altLang="en-US" sz="1050" dirty="0"/>
            </a:p>
          </p:txBody>
        </p:sp>
      </p:grpSp>
      <p:cxnSp>
        <p:nvCxnSpPr>
          <p:cNvPr id="41" name="直線單箭頭接點 40"/>
          <p:cNvCxnSpPr>
            <a:endCxn id="33" idx="0"/>
          </p:cNvCxnSpPr>
          <p:nvPr/>
        </p:nvCxnSpPr>
        <p:spPr>
          <a:xfrm>
            <a:off x="3448396" y="1778118"/>
            <a:ext cx="5438" cy="205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>
            <a:stCxn id="15" idx="3"/>
            <a:endCxn id="36" idx="0"/>
          </p:cNvCxnSpPr>
          <p:nvPr/>
        </p:nvCxnSpPr>
        <p:spPr>
          <a:xfrm>
            <a:off x="4274746" y="1322879"/>
            <a:ext cx="1352415" cy="667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H="1">
            <a:off x="4274746" y="1015307"/>
            <a:ext cx="3456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群組 55"/>
          <p:cNvGrpSpPr/>
          <p:nvPr/>
        </p:nvGrpSpPr>
        <p:grpSpPr>
          <a:xfrm>
            <a:off x="248999" y="5781081"/>
            <a:ext cx="3014876" cy="836899"/>
            <a:chOff x="1330546" y="4882917"/>
            <a:chExt cx="1995054" cy="964277"/>
          </a:xfrm>
        </p:grpSpPr>
        <p:sp>
          <p:nvSpPr>
            <p:cNvPr id="57" name="矩形 56"/>
            <p:cNvSpPr/>
            <p:nvPr/>
          </p:nvSpPr>
          <p:spPr>
            <a:xfrm>
              <a:off x="1330546" y="4882917"/>
              <a:ext cx="1995054" cy="9642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1727014" y="5063627"/>
              <a:ext cx="1202119" cy="602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 smtClean="0"/>
                <a:t>輸出</a:t>
              </a:r>
              <a:r>
                <a:rPr lang="en-US" altLang="zh-TW" sz="1400" dirty="0" smtClean="0"/>
                <a:t>error.txt</a:t>
              </a:r>
            </a:p>
            <a:p>
              <a:pPr algn="ctr"/>
              <a:r>
                <a:rPr lang="zh-TW" altLang="en-US" sz="1400" dirty="0"/>
                <a:t>程式繼續下一</a:t>
              </a:r>
              <a:r>
                <a:rPr lang="zh-TW" altLang="en-US" sz="1400" dirty="0" smtClean="0"/>
                <a:t>組</a:t>
              </a:r>
              <a:r>
                <a:rPr lang="en-US" altLang="zh-TW" sz="1400" dirty="0" smtClean="0"/>
                <a:t>case</a:t>
              </a:r>
              <a:endParaRPr lang="zh-TW" altLang="en-US" sz="1400" dirty="0"/>
            </a:p>
          </p:txBody>
        </p:sp>
      </p:grpSp>
      <p:grpSp>
        <p:nvGrpSpPr>
          <p:cNvPr id="84" name="群組 83"/>
          <p:cNvGrpSpPr/>
          <p:nvPr/>
        </p:nvGrpSpPr>
        <p:grpSpPr>
          <a:xfrm>
            <a:off x="3526089" y="5787137"/>
            <a:ext cx="3064435" cy="830843"/>
            <a:chOff x="2369127" y="5787137"/>
            <a:chExt cx="4221398" cy="830843"/>
          </a:xfrm>
        </p:grpSpPr>
        <p:sp>
          <p:nvSpPr>
            <p:cNvPr id="60" name="矩形 59"/>
            <p:cNvSpPr/>
            <p:nvPr/>
          </p:nvSpPr>
          <p:spPr>
            <a:xfrm>
              <a:off x="2369127" y="5787137"/>
              <a:ext cx="4221398" cy="83084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2807956" y="6033281"/>
              <a:ext cx="33437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dirty="0" smtClean="0"/>
                <a:t>輸出結果至</a:t>
              </a:r>
              <a:r>
                <a:rPr lang="en-US" altLang="zh-TW" sz="1600" dirty="0" smtClean="0"/>
                <a:t>final_result.txt</a:t>
              </a:r>
              <a:endParaRPr lang="zh-TW" altLang="en-US" sz="1600" dirty="0"/>
            </a:p>
          </p:txBody>
        </p:sp>
      </p:grpSp>
      <p:grpSp>
        <p:nvGrpSpPr>
          <p:cNvPr id="46" name="群組 45"/>
          <p:cNvGrpSpPr/>
          <p:nvPr/>
        </p:nvGrpSpPr>
        <p:grpSpPr>
          <a:xfrm>
            <a:off x="288517" y="3142475"/>
            <a:ext cx="1995054" cy="964277"/>
            <a:chOff x="1330546" y="4891744"/>
            <a:chExt cx="1995054" cy="964277"/>
          </a:xfrm>
        </p:grpSpPr>
        <p:sp>
          <p:nvSpPr>
            <p:cNvPr id="47" name="矩形 46"/>
            <p:cNvSpPr/>
            <p:nvPr/>
          </p:nvSpPr>
          <p:spPr>
            <a:xfrm>
              <a:off x="1330546" y="4891744"/>
              <a:ext cx="1995054" cy="9642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文字方塊 47"/>
            <p:cNvSpPr txBox="1"/>
            <p:nvPr/>
          </p:nvSpPr>
          <p:spPr>
            <a:xfrm>
              <a:off x="1411253" y="4923759"/>
              <a:ext cx="1833641" cy="90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>
                <a:defRPr sz="1200"/>
              </a:lvl1pPr>
            </a:lstStyle>
            <a:p>
              <a:pPr algn="ctr"/>
              <a:r>
                <a:rPr lang="en-US" altLang="zh-TW" sz="1050" dirty="0" smtClean="0"/>
                <a:t>icmp_analyze.sh</a:t>
              </a:r>
              <a:r>
                <a:rPr lang="zh-TW" altLang="en-US" sz="1050" dirty="0" smtClean="0"/>
                <a:t> 可以判斷</a:t>
              </a:r>
              <a:endParaRPr lang="en-US" altLang="zh-TW" sz="1050" dirty="0" smtClean="0"/>
            </a:p>
            <a:p>
              <a:pPr algn="ctr"/>
              <a:r>
                <a:rPr lang="zh-TW" altLang="en-US" sz="1050" dirty="0" smtClean="0"/>
                <a:t>封包來源 </a:t>
              </a:r>
              <a:r>
                <a:rPr lang="en-US" altLang="zh-TW" sz="1050" dirty="0" err="1" smtClean="0"/>
                <a:t>ip</a:t>
              </a:r>
              <a:r>
                <a:rPr lang="en-US" altLang="zh-TW" sz="1050" dirty="0" smtClean="0"/>
                <a:t>/</a:t>
              </a:r>
              <a:r>
                <a:rPr lang="zh-TW" altLang="en-US" sz="1050" dirty="0" smtClean="0"/>
                <a:t>目標 </a:t>
              </a:r>
              <a:r>
                <a:rPr lang="en-US" altLang="zh-TW" sz="1050" dirty="0" err="1" smtClean="0"/>
                <a:t>ip</a:t>
              </a:r>
              <a:r>
                <a:rPr lang="en-US" altLang="zh-TW" sz="1050" dirty="0" smtClean="0"/>
                <a:t>/</a:t>
              </a:r>
            </a:p>
            <a:p>
              <a:pPr algn="ctr"/>
              <a:r>
                <a:rPr lang="en-US" altLang="zh-TW" sz="1050" dirty="0" smtClean="0"/>
                <a:t>Protocol type/ </a:t>
              </a:r>
              <a:r>
                <a:rPr lang="en-US" altLang="zh-TW" sz="1050" dirty="0" err="1" smtClean="0"/>
                <a:t>seq</a:t>
              </a:r>
              <a:r>
                <a:rPr lang="en-US" altLang="zh-TW" sz="1050" dirty="0" smtClean="0"/>
                <a:t> number</a:t>
              </a:r>
              <a:r>
                <a:rPr lang="zh-TW" altLang="en-US" sz="1050" dirty="0" smtClean="0"/>
                <a:t>等</a:t>
              </a:r>
              <a:endParaRPr lang="en-US" altLang="zh-TW" sz="1050" dirty="0" smtClean="0"/>
            </a:p>
            <a:p>
              <a:pPr algn="ctr"/>
              <a:r>
                <a:rPr lang="zh-TW" altLang="en-US" sz="1050" dirty="0" smtClean="0"/>
                <a:t>並</a:t>
              </a:r>
              <a:r>
                <a:rPr lang="zh-TW" altLang="en-US" sz="1050" dirty="0"/>
                <a:t>判斷兩封包是否互</a:t>
              </a:r>
              <a:r>
                <a:rPr lang="zh-TW" altLang="en-US" sz="1050" dirty="0" smtClean="0"/>
                <a:t>為 </a:t>
              </a:r>
              <a:r>
                <a:rPr lang="en-US" altLang="zh-TW" sz="1050" dirty="0" smtClean="0"/>
                <a:t>request / reply pair</a:t>
              </a:r>
              <a:endParaRPr lang="zh-TW" altLang="en-US" sz="1050" dirty="0"/>
            </a:p>
          </p:txBody>
        </p:sp>
      </p:grpSp>
      <p:grpSp>
        <p:nvGrpSpPr>
          <p:cNvPr id="68" name="群組 67"/>
          <p:cNvGrpSpPr/>
          <p:nvPr/>
        </p:nvGrpSpPr>
        <p:grpSpPr>
          <a:xfrm>
            <a:off x="4629634" y="3133649"/>
            <a:ext cx="1995054" cy="999279"/>
            <a:chOff x="1330546" y="4882917"/>
            <a:chExt cx="1995054" cy="999279"/>
          </a:xfrm>
        </p:grpSpPr>
        <p:sp>
          <p:nvSpPr>
            <p:cNvPr id="69" name="矩形 68"/>
            <p:cNvSpPr/>
            <p:nvPr/>
          </p:nvSpPr>
          <p:spPr>
            <a:xfrm>
              <a:off x="1330546" y="4882917"/>
              <a:ext cx="1995054" cy="9642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1397558" y="4981950"/>
              <a:ext cx="1859234" cy="90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050" dirty="0" smtClean="0"/>
                <a:t>tcp_analyze.sh</a:t>
              </a:r>
              <a:r>
                <a:rPr lang="zh-TW" altLang="en-US" sz="1050" dirty="0" smtClean="0"/>
                <a:t>可以判斷封包來源 </a:t>
              </a:r>
              <a:r>
                <a:rPr lang="en-US" altLang="zh-TW" sz="1050" dirty="0" err="1" smtClean="0"/>
                <a:t>ip</a:t>
              </a:r>
              <a:r>
                <a:rPr lang="en-US" altLang="zh-TW" sz="1050" dirty="0" smtClean="0"/>
                <a:t>/</a:t>
              </a:r>
              <a:r>
                <a:rPr lang="zh-TW" altLang="en-US" sz="1050" dirty="0" smtClean="0"/>
                <a:t>目標 </a:t>
              </a:r>
              <a:r>
                <a:rPr lang="en-US" altLang="zh-TW" sz="1050" dirty="0" err="1" smtClean="0"/>
                <a:t>ip</a:t>
              </a:r>
              <a:r>
                <a:rPr lang="en-US" altLang="zh-TW" sz="1050" dirty="0" smtClean="0"/>
                <a:t>/Protocol type</a:t>
              </a:r>
              <a:r>
                <a:rPr lang="zh-TW" altLang="en-US" sz="1050" dirty="0" smtClean="0"/>
                <a:t>等資料，並可以透過</a:t>
              </a:r>
              <a:r>
                <a:rPr lang="en-US" altLang="zh-TW" sz="1050" dirty="0" smtClean="0"/>
                <a:t>port</a:t>
              </a:r>
              <a:r>
                <a:rPr lang="zh-TW" altLang="en-US" sz="1050" dirty="0" smtClean="0"/>
                <a:t>是否連續來判斷中間是否有</a:t>
              </a:r>
              <a:r>
                <a:rPr lang="en-US" altLang="zh-TW" sz="1050" dirty="0" smtClean="0"/>
                <a:t>loss</a:t>
              </a:r>
              <a:endParaRPr lang="zh-TW" altLang="en-US" sz="1050" dirty="0" smtClean="0"/>
            </a:p>
            <a:p>
              <a:pPr algn="ctr"/>
              <a:endParaRPr lang="zh-TW" altLang="en-US" sz="1050" dirty="0"/>
            </a:p>
          </p:txBody>
        </p:sp>
      </p:grpSp>
      <p:cxnSp>
        <p:nvCxnSpPr>
          <p:cNvPr id="74" name="直線單箭頭接點 73"/>
          <p:cNvCxnSpPr>
            <a:stCxn id="16" idx="2"/>
            <a:endCxn id="47" idx="0"/>
          </p:cNvCxnSpPr>
          <p:nvPr/>
        </p:nvCxnSpPr>
        <p:spPr>
          <a:xfrm>
            <a:off x="1286044" y="2949805"/>
            <a:ext cx="0" cy="192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>
            <a:stCxn id="33" idx="2"/>
            <a:endCxn id="85" idx="0"/>
          </p:cNvCxnSpPr>
          <p:nvPr/>
        </p:nvCxnSpPr>
        <p:spPr>
          <a:xfrm>
            <a:off x="3453834" y="2947444"/>
            <a:ext cx="1234" cy="1085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>
            <a:stCxn id="36" idx="2"/>
            <a:endCxn id="69" idx="0"/>
          </p:cNvCxnSpPr>
          <p:nvPr/>
        </p:nvCxnSpPr>
        <p:spPr>
          <a:xfrm>
            <a:off x="5627161" y="2954916"/>
            <a:ext cx="0" cy="178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字方塊 82"/>
          <p:cNvSpPr txBox="1"/>
          <p:nvPr/>
        </p:nvSpPr>
        <p:spPr>
          <a:xfrm>
            <a:off x="8875878" y="5966019"/>
            <a:ext cx="2855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/>
              <a:t>control.py </a:t>
            </a:r>
            <a:r>
              <a:rPr lang="zh-TW" altLang="en-US" sz="1400" dirty="0" smtClean="0"/>
              <a:t>透過 </a:t>
            </a:r>
            <a:r>
              <a:rPr lang="en-US" altLang="zh-TW" sz="1400" dirty="0" smtClean="0"/>
              <a:t>SSH </a:t>
            </a:r>
            <a:r>
              <a:rPr lang="zh-TW" altLang="en-US" sz="1400" dirty="0" smtClean="0"/>
              <a:t>抓回</a:t>
            </a:r>
            <a:r>
              <a:rPr lang="en-US" altLang="zh-TW" sz="1400" dirty="0" err="1" smtClean="0"/>
              <a:t>final_result</a:t>
            </a:r>
            <a:endParaRPr lang="zh-TW" altLang="en-US" sz="1400" dirty="0"/>
          </a:p>
        </p:txBody>
      </p:sp>
      <p:grpSp>
        <p:nvGrpSpPr>
          <p:cNvPr id="89" name="群組 88"/>
          <p:cNvGrpSpPr/>
          <p:nvPr/>
        </p:nvGrpSpPr>
        <p:grpSpPr>
          <a:xfrm>
            <a:off x="2638597" y="4032730"/>
            <a:ext cx="1632942" cy="956065"/>
            <a:chOff x="3185825" y="4376543"/>
            <a:chExt cx="1632942" cy="956065"/>
          </a:xfrm>
        </p:grpSpPr>
        <p:sp>
          <p:nvSpPr>
            <p:cNvPr id="85" name="菱形 84"/>
            <p:cNvSpPr/>
            <p:nvPr/>
          </p:nvSpPr>
          <p:spPr>
            <a:xfrm>
              <a:off x="3185825" y="4376543"/>
              <a:ext cx="1632942" cy="956065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文字方塊 85"/>
            <p:cNvSpPr txBox="1"/>
            <p:nvPr/>
          </p:nvSpPr>
          <p:spPr>
            <a:xfrm>
              <a:off x="3346202" y="4700687"/>
              <a:ext cx="1283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dirty="0" smtClean="0"/>
                <a:t>是否正確執行</a:t>
              </a:r>
              <a:r>
                <a:rPr lang="en-US" altLang="zh-TW" sz="1400" dirty="0" smtClean="0"/>
                <a:t>?</a:t>
              </a:r>
              <a:endParaRPr lang="zh-TW" altLang="en-US" sz="1400" dirty="0"/>
            </a:p>
          </p:txBody>
        </p:sp>
      </p:grpSp>
      <p:cxnSp>
        <p:nvCxnSpPr>
          <p:cNvPr id="97" name="直線單箭頭接點 96"/>
          <p:cNvCxnSpPr/>
          <p:nvPr/>
        </p:nvCxnSpPr>
        <p:spPr>
          <a:xfrm>
            <a:off x="1468753" y="1751218"/>
            <a:ext cx="0" cy="246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/>
          <p:cNvCxnSpPr>
            <a:stCxn id="85" idx="2"/>
            <a:endCxn id="60" idx="0"/>
          </p:cNvCxnSpPr>
          <p:nvPr/>
        </p:nvCxnSpPr>
        <p:spPr>
          <a:xfrm>
            <a:off x="3455068" y="4988795"/>
            <a:ext cx="1603239" cy="798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單箭頭接點 111"/>
          <p:cNvCxnSpPr>
            <a:stCxn id="85" idx="2"/>
            <a:endCxn id="57" idx="0"/>
          </p:cNvCxnSpPr>
          <p:nvPr/>
        </p:nvCxnSpPr>
        <p:spPr>
          <a:xfrm flipH="1">
            <a:off x="1756437" y="4988795"/>
            <a:ext cx="1698631" cy="792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字方塊 113"/>
          <p:cNvSpPr txBox="1"/>
          <p:nvPr/>
        </p:nvSpPr>
        <p:spPr>
          <a:xfrm>
            <a:off x="2456307" y="5020267"/>
            <a:ext cx="523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no</a:t>
            </a:r>
            <a:endParaRPr lang="zh-TW" altLang="en-US" dirty="0"/>
          </a:p>
        </p:txBody>
      </p:sp>
      <p:sp>
        <p:nvSpPr>
          <p:cNvPr id="115" name="文字方塊 114"/>
          <p:cNvSpPr txBox="1"/>
          <p:nvPr/>
        </p:nvSpPr>
        <p:spPr>
          <a:xfrm>
            <a:off x="4049048" y="5024957"/>
            <a:ext cx="523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yes</a:t>
            </a:r>
            <a:endParaRPr lang="zh-TW" altLang="en-US" dirty="0"/>
          </a:p>
        </p:txBody>
      </p:sp>
      <p:grpSp>
        <p:nvGrpSpPr>
          <p:cNvPr id="116" name="群組 115"/>
          <p:cNvGrpSpPr/>
          <p:nvPr/>
        </p:nvGrpSpPr>
        <p:grpSpPr>
          <a:xfrm>
            <a:off x="297275" y="4905737"/>
            <a:ext cx="1421637" cy="693489"/>
            <a:chOff x="1330546" y="4882917"/>
            <a:chExt cx="1995054" cy="964277"/>
          </a:xfrm>
        </p:grpSpPr>
        <p:sp>
          <p:nvSpPr>
            <p:cNvPr id="117" name="矩形 116"/>
            <p:cNvSpPr/>
            <p:nvPr/>
          </p:nvSpPr>
          <p:spPr>
            <a:xfrm>
              <a:off x="1330546" y="4882917"/>
              <a:ext cx="1995054" cy="9642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8" name="文字方塊 117"/>
            <p:cNvSpPr txBox="1"/>
            <p:nvPr/>
          </p:nvSpPr>
          <p:spPr>
            <a:xfrm>
              <a:off x="1480175" y="5072669"/>
              <a:ext cx="1695797" cy="6069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100" dirty="0" smtClean="0"/>
                <a:t>輸出 </a:t>
              </a:r>
              <a:r>
                <a:rPr lang="en-US" altLang="zh-TW" sz="1100" dirty="0" smtClean="0"/>
                <a:t>detail report</a:t>
              </a:r>
            </a:p>
            <a:p>
              <a:r>
                <a:rPr lang="zh-TW" altLang="en-US" sz="1100" dirty="0" smtClean="0"/>
                <a:t>到 </a:t>
              </a:r>
              <a:r>
                <a:rPr lang="en-US" altLang="zh-TW" sz="1100" dirty="0" smtClean="0"/>
                <a:t>Result Folder</a:t>
              </a:r>
              <a:endParaRPr lang="zh-TW" altLang="en-US" sz="1100" dirty="0"/>
            </a:p>
          </p:txBody>
        </p:sp>
      </p:grpSp>
      <p:cxnSp>
        <p:nvCxnSpPr>
          <p:cNvPr id="120" name="直線單箭頭接點 119"/>
          <p:cNvCxnSpPr>
            <a:endCxn id="117" idx="0"/>
          </p:cNvCxnSpPr>
          <p:nvPr/>
        </p:nvCxnSpPr>
        <p:spPr>
          <a:xfrm>
            <a:off x="1008093" y="4022146"/>
            <a:ext cx="1" cy="883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群組 72"/>
          <p:cNvGrpSpPr/>
          <p:nvPr/>
        </p:nvGrpSpPr>
        <p:grpSpPr>
          <a:xfrm>
            <a:off x="291727" y="4289085"/>
            <a:ext cx="1988634" cy="589342"/>
            <a:chOff x="296779" y="4365850"/>
            <a:chExt cx="1988634" cy="589342"/>
          </a:xfrm>
        </p:grpSpPr>
        <p:sp>
          <p:nvSpPr>
            <p:cNvPr id="80" name="矩形 79"/>
            <p:cNvSpPr/>
            <p:nvPr/>
          </p:nvSpPr>
          <p:spPr>
            <a:xfrm>
              <a:off x="296779" y="4365850"/>
              <a:ext cx="1988634" cy="4519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文字方塊 80"/>
            <p:cNvSpPr txBox="1"/>
            <p:nvPr/>
          </p:nvSpPr>
          <p:spPr>
            <a:xfrm>
              <a:off x="466139" y="4378111"/>
              <a:ext cx="1649914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1050" dirty="0" smtClean="0"/>
                <a:t>輸出</a:t>
              </a:r>
              <a:r>
                <a:rPr lang="en-US" altLang="zh-TW" sz="1050" dirty="0" smtClean="0"/>
                <a:t>ping success ratio</a:t>
              </a:r>
            </a:p>
            <a:p>
              <a:pPr algn="just"/>
              <a:r>
                <a:rPr lang="zh-TW" altLang="en-US" sz="1050" dirty="0" smtClean="0"/>
                <a:t>並判斷</a:t>
              </a:r>
              <a:r>
                <a:rPr lang="zh-TW" altLang="en-US" sz="1050" dirty="0"/>
                <a:t> </a:t>
              </a:r>
              <a:r>
                <a:rPr lang="en-US" altLang="zh-TW" sz="1050" dirty="0" smtClean="0"/>
                <a:t>ping success or not</a:t>
              </a:r>
            </a:p>
            <a:p>
              <a:pPr algn="just"/>
              <a:endParaRPr lang="zh-TW" altLang="en-US" sz="1050" dirty="0"/>
            </a:p>
          </p:txBody>
        </p:sp>
      </p:grpSp>
      <p:grpSp>
        <p:nvGrpSpPr>
          <p:cNvPr id="121" name="群組 120"/>
          <p:cNvGrpSpPr/>
          <p:nvPr/>
        </p:nvGrpSpPr>
        <p:grpSpPr>
          <a:xfrm>
            <a:off x="5188046" y="4878427"/>
            <a:ext cx="1421637" cy="720799"/>
            <a:chOff x="1330546" y="4882917"/>
            <a:chExt cx="1995054" cy="964277"/>
          </a:xfrm>
        </p:grpSpPr>
        <p:sp>
          <p:nvSpPr>
            <p:cNvPr id="122" name="矩形 121"/>
            <p:cNvSpPr/>
            <p:nvPr/>
          </p:nvSpPr>
          <p:spPr>
            <a:xfrm>
              <a:off x="1330546" y="4882917"/>
              <a:ext cx="1995054" cy="9642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3" name="文字方塊 122"/>
            <p:cNvSpPr txBox="1"/>
            <p:nvPr/>
          </p:nvSpPr>
          <p:spPr>
            <a:xfrm>
              <a:off x="1480175" y="5072669"/>
              <a:ext cx="1695797" cy="6069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100" dirty="0" smtClean="0"/>
                <a:t>輸出 </a:t>
              </a:r>
              <a:r>
                <a:rPr lang="en-US" altLang="zh-TW" sz="1100" dirty="0" smtClean="0"/>
                <a:t>detail report</a:t>
              </a:r>
            </a:p>
            <a:p>
              <a:r>
                <a:rPr lang="zh-TW" altLang="en-US" sz="1100" dirty="0" smtClean="0"/>
                <a:t>到 </a:t>
              </a:r>
              <a:r>
                <a:rPr lang="en-US" altLang="zh-TW" sz="1100" dirty="0" smtClean="0"/>
                <a:t>Result Folder</a:t>
              </a:r>
              <a:endParaRPr lang="zh-TW" altLang="en-US" sz="1100" dirty="0"/>
            </a:p>
          </p:txBody>
        </p:sp>
      </p:grpSp>
      <p:cxnSp>
        <p:nvCxnSpPr>
          <p:cNvPr id="124" name="直線單箭頭接點 123"/>
          <p:cNvCxnSpPr/>
          <p:nvPr/>
        </p:nvCxnSpPr>
        <p:spPr>
          <a:xfrm flipH="1">
            <a:off x="5924341" y="4074736"/>
            <a:ext cx="1" cy="7969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群組 127"/>
          <p:cNvGrpSpPr/>
          <p:nvPr/>
        </p:nvGrpSpPr>
        <p:grpSpPr>
          <a:xfrm>
            <a:off x="2743016" y="3144195"/>
            <a:ext cx="1421637" cy="684527"/>
            <a:chOff x="1330546" y="4882917"/>
            <a:chExt cx="1995054" cy="964277"/>
          </a:xfrm>
        </p:grpSpPr>
        <p:sp>
          <p:nvSpPr>
            <p:cNvPr id="129" name="矩形 128"/>
            <p:cNvSpPr/>
            <p:nvPr/>
          </p:nvSpPr>
          <p:spPr>
            <a:xfrm>
              <a:off x="1330546" y="4882917"/>
              <a:ext cx="1995054" cy="9642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0" name="文字方塊 129"/>
            <p:cNvSpPr txBox="1"/>
            <p:nvPr/>
          </p:nvSpPr>
          <p:spPr>
            <a:xfrm>
              <a:off x="1480175" y="5072669"/>
              <a:ext cx="1695797" cy="6069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100" dirty="0" smtClean="0"/>
                <a:t>輸出</a:t>
              </a:r>
              <a:r>
                <a:rPr lang="en-US" altLang="zh-TW" sz="1100" dirty="0" smtClean="0"/>
                <a:t>detail report</a:t>
              </a:r>
            </a:p>
            <a:p>
              <a:pPr algn="ctr"/>
              <a:r>
                <a:rPr lang="zh-TW" altLang="en-US" sz="1100" dirty="0" smtClean="0"/>
                <a:t>到</a:t>
              </a:r>
              <a:r>
                <a:rPr lang="en-US" altLang="zh-TW" sz="1100" dirty="0" smtClean="0"/>
                <a:t>Result Folder</a:t>
              </a:r>
              <a:endParaRPr lang="zh-TW" altLang="en-US" sz="1100" dirty="0"/>
            </a:p>
          </p:txBody>
        </p:sp>
      </p:grpSp>
      <p:cxnSp>
        <p:nvCxnSpPr>
          <p:cNvPr id="149" name="直線單箭頭接點 148"/>
          <p:cNvCxnSpPr>
            <a:stCxn id="80" idx="3"/>
            <a:endCxn id="85" idx="1"/>
          </p:cNvCxnSpPr>
          <p:nvPr/>
        </p:nvCxnSpPr>
        <p:spPr>
          <a:xfrm flipV="1">
            <a:off x="2280361" y="4510763"/>
            <a:ext cx="358236" cy="4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單箭頭接點 151"/>
          <p:cNvCxnSpPr/>
          <p:nvPr/>
        </p:nvCxnSpPr>
        <p:spPr>
          <a:xfrm flipH="1">
            <a:off x="6786211" y="1076453"/>
            <a:ext cx="17343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直線單箭頭接點 153"/>
          <p:cNvCxnSpPr/>
          <p:nvPr/>
        </p:nvCxnSpPr>
        <p:spPr>
          <a:xfrm>
            <a:off x="6786211" y="6333510"/>
            <a:ext cx="17343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>
            <a:stCxn id="47" idx="2"/>
            <a:endCxn id="81" idx="0"/>
          </p:cNvCxnSpPr>
          <p:nvPr/>
        </p:nvCxnSpPr>
        <p:spPr>
          <a:xfrm>
            <a:off x="1286044" y="4106752"/>
            <a:ext cx="0" cy="194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2" name="群組 131"/>
          <p:cNvGrpSpPr/>
          <p:nvPr/>
        </p:nvGrpSpPr>
        <p:grpSpPr>
          <a:xfrm>
            <a:off x="4629634" y="4241024"/>
            <a:ext cx="1995054" cy="589342"/>
            <a:chOff x="296779" y="4365850"/>
            <a:chExt cx="2000169" cy="589342"/>
          </a:xfrm>
        </p:grpSpPr>
        <p:sp>
          <p:nvSpPr>
            <p:cNvPr id="133" name="矩形 132"/>
            <p:cNvSpPr/>
            <p:nvPr/>
          </p:nvSpPr>
          <p:spPr>
            <a:xfrm>
              <a:off x="296779" y="4365850"/>
              <a:ext cx="1988634" cy="4519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4" name="文字方塊 133"/>
            <p:cNvSpPr txBox="1"/>
            <p:nvPr/>
          </p:nvSpPr>
          <p:spPr>
            <a:xfrm>
              <a:off x="296779" y="4378111"/>
              <a:ext cx="2000169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algn="ctr">
                <a:defRPr sz="1050"/>
              </a:lvl1pPr>
            </a:lstStyle>
            <a:p>
              <a:r>
                <a:rPr lang="zh-TW" altLang="en-US" dirty="0"/>
                <a:t>輸出 </a:t>
              </a:r>
              <a:r>
                <a:rPr lang="en-US" altLang="zh-TW" dirty="0"/>
                <a:t>port list</a:t>
              </a:r>
            </a:p>
            <a:p>
              <a:r>
                <a:rPr lang="zh-TW" altLang="en-US" dirty="0"/>
                <a:t>並判斷 </a:t>
              </a:r>
              <a:r>
                <a:rPr lang="en-US" altLang="zh-TW" dirty="0"/>
                <a:t>link success or not</a:t>
              </a:r>
            </a:p>
            <a:p>
              <a:endParaRPr lang="zh-TW" altLang="en-US" dirty="0"/>
            </a:p>
          </p:txBody>
        </p:sp>
      </p:grpSp>
      <p:cxnSp>
        <p:nvCxnSpPr>
          <p:cNvPr id="106" name="直線單箭頭接點 105"/>
          <p:cNvCxnSpPr>
            <a:stCxn id="69" idx="2"/>
          </p:cNvCxnSpPr>
          <p:nvPr/>
        </p:nvCxnSpPr>
        <p:spPr>
          <a:xfrm>
            <a:off x="5627161" y="4097926"/>
            <a:ext cx="3070" cy="177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/>
          <p:cNvCxnSpPr>
            <a:endCxn id="85" idx="3"/>
          </p:cNvCxnSpPr>
          <p:nvPr/>
        </p:nvCxnSpPr>
        <p:spPr>
          <a:xfrm flipH="1" flipV="1">
            <a:off x="4271539" y="4510763"/>
            <a:ext cx="348890" cy="4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009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矩形 89"/>
          <p:cNvSpPr/>
          <p:nvPr/>
        </p:nvSpPr>
        <p:spPr>
          <a:xfrm>
            <a:off x="8520545" y="5879300"/>
            <a:ext cx="3566160" cy="8789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73065" y="83126"/>
            <a:ext cx="6662286" cy="66584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4" name="直線單箭頭接點 193"/>
          <p:cNvCxnSpPr/>
          <p:nvPr/>
        </p:nvCxnSpPr>
        <p:spPr>
          <a:xfrm>
            <a:off x="532013" y="1062811"/>
            <a:ext cx="0" cy="4980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矩形 163"/>
          <p:cNvSpPr/>
          <p:nvPr/>
        </p:nvSpPr>
        <p:spPr>
          <a:xfrm>
            <a:off x="219061" y="2828370"/>
            <a:ext cx="6370294" cy="19562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5" name="矩形 164"/>
          <p:cNvSpPr/>
          <p:nvPr/>
        </p:nvSpPr>
        <p:spPr>
          <a:xfrm>
            <a:off x="461503" y="3167283"/>
            <a:ext cx="5885411" cy="3099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5" name="群組 64"/>
          <p:cNvGrpSpPr/>
          <p:nvPr/>
        </p:nvGrpSpPr>
        <p:grpSpPr>
          <a:xfrm>
            <a:off x="186672" y="1583652"/>
            <a:ext cx="6435072" cy="313441"/>
            <a:chOff x="205445" y="1592852"/>
            <a:chExt cx="6435072" cy="313441"/>
          </a:xfrm>
        </p:grpSpPr>
        <p:sp>
          <p:nvSpPr>
            <p:cNvPr id="161" name="矩形 160"/>
            <p:cNvSpPr/>
            <p:nvPr/>
          </p:nvSpPr>
          <p:spPr>
            <a:xfrm>
              <a:off x="205445" y="1592852"/>
              <a:ext cx="2972884" cy="3099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6" name="矩形 165"/>
            <p:cNvSpPr/>
            <p:nvPr/>
          </p:nvSpPr>
          <p:spPr>
            <a:xfrm>
              <a:off x="3259849" y="1596383"/>
              <a:ext cx="3380668" cy="3099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60" name="矩形 159"/>
          <p:cNvSpPr/>
          <p:nvPr/>
        </p:nvSpPr>
        <p:spPr>
          <a:xfrm>
            <a:off x="189855" y="1169924"/>
            <a:ext cx="6428706" cy="3099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8520545" y="108065"/>
            <a:ext cx="3566160" cy="558062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224444" y="224443"/>
            <a:ext cx="6394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Client (</a:t>
            </a:r>
            <a:r>
              <a:rPr lang="en-US" altLang="zh-TW" dirty="0" err="1" smtClean="0"/>
              <a:t>tsetcase</a:t>
            </a:r>
            <a:r>
              <a:rPr lang="en-US" altLang="zh-TW" dirty="0" smtClean="0"/>
              <a:t>: Mode 1: </a:t>
            </a:r>
            <a:r>
              <a:rPr lang="zh-TW" altLang="en-US" dirty="0" smtClean="0"/>
              <a:t>在</a:t>
            </a:r>
            <a:r>
              <a:rPr lang="zh-TW" altLang="en-US" dirty="0"/>
              <a:t>背景</a:t>
            </a:r>
            <a:r>
              <a:rPr lang="en-US" altLang="zh-TW" dirty="0"/>
              <a:t>ping</a:t>
            </a:r>
            <a:r>
              <a:rPr lang="zh-TW" altLang="en-US" dirty="0"/>
              <a:t>並擷取封包進行</a:t>
            </a:r>
            <a:r>
              <a:rPr lang="zh-TW" altLang="en-US" dirty="0" smtClean="0"/>
              <a:t>比對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8574578" y="224443"/>
            <a:ext cx="3029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Server (Control Panel)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8711738" y="1735307"/>
            <a:ext cx="3183775" cy="206345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8706485" y="1756310"/>
            <a:ext cx="318377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 smtClean="0"/>
              <a:t>設定</a:t>
            </a:r>
            <a:r>
              <a:rPr lang="en-US" altLang="zh-TW" sz="1400" dirty="0" smtClean="0"/>
              <a:t>ip_list.txt</a:t>
            </a:r>
          </a:p>
          <a:p>
            <a:r>
              <a:rPr lang="en-US" altLang="zh-TW" sz="1400" dirty="0" smtClean="0"/>
              <a:t>(</a:t>
            </a:r>
            <a:r>
              <a:rPr lang="zh-TW" altLang="en-US" sz="1400" dirty="0" smtClean="0"/>
              <a:t>兩張虛擬網卡的</a:t>
            </a:r>
            <a:r>
              <a:rPr lang="en-US" altLang="zh-TW" sz="1400" dirty="0" smtClean="0"/>
              <a:t>namespace</a:t>
            </a:r>
          </a:p>
          <a:p>
            <a:r>
              <a:rPr lang="en-US" altLang="zh-TW" sz="1400" dirty="0" smtClean="0"/>
              <a:t>name/vid/base/ipv4/mask4/gw4/ipv6/mask6/gw6/</a:t>
            </a:r>
            <a:r>
              <a:rPr lang="en-US" altLang="zh-TW" sz="1400" dirty="0" err="1" smtClean="0"/>
              <a:t>gw</a:t>
            </a:r>
            <a:r>
              <a:rPr lang="en-US" altLang="zh-TW" sz="1400" dirty="0" smtClean="0"/>
              <a:t> mac/mode)</a:t>
            </a:r>
          </a:p>
          <a:p>
            <a:endParaRPr lang="en-US" altLang="zh-TW" sz="1400" dirty="0" smtClean="0"/>
          </a:p>
          <a:p>
            <a:r>
              <a:rPr lang="en-US" altLang="zh-TW" sz="1200" dirty="0" smtClean="0"/>
              <a:t>mode 1: </a:t>
            </a:r>
            <a:r>
              <a:rPr lang="zh-TW" altLang="en-US" sz="1200" dirty="0" smtClean="0"/>
              <a:t>在背景</a:t>
            </a:r>
            <a:r>
              <a:rPr lang="en-US" altLang="zh-TW" sz="1200" dirty="0" smtClean="0"/>
              <a:t>ping</a:t>
            </a:r>
            <a:r>
              <a:rPr lang="zh-TW" altLang="en-US" sz="1200" dirty="0" smtClean="0"/>
              <a:t>並擷取封包進行比對</a:t>
            </a:r>
            <a:endParaRPr lang="en-US" altLang="zh-TW" sz="1200" dirty="0" smtClean="0"/>
          </a:p>
          <a:p>
            <a:r>
              <a:rPr lang="en-US" altLang="zh-TW" sz="1200" dirty="0" smtClean="0"/>
              <a:t>mode 2: </a:t>
            </a:r>
            <a:r>
              <a:rPr lang="zh-TW" altLang="en-US" sz="1200" dirty="0" smtClean="0"/>
              <a:t>直接</a:t>
            </a:r>
            <a:r>
              <a:rPr lang="en-US" altLang="zh-TW" sz="1200" dirty="0" smtClean="0"/>
              <a:t>ping</a:t>
            </a:r>
            <a:r>
              <a:rPr lang="zh-TW" altLang="en-US" sz="1200" dirty="0" smtClean="0"/>
              <a:t>並判斷螢幕輸出結果</a:t>
            </a:r>
            <a:endParaRPr lang="en-US" altLang="zh-TW" sz="1200" dirty="0" smtClean="0"/>
          </a:p>
          <a:p>
            <a:r>
              <a:rPr lang="en-US" altLang="zh-TW" sz="1200" dirty="0" smtClean="0"/>
              <a:t>mode 3: </a:t>
            </a:r>
            <a:r>
              <a:rPr lang="zh-TW" altLang="en-US" sz="1200" dirty="0"/>
              <a:t>在</a:t>
            </a:r>
            <a:r>
              <a:rPr lang="zh-TW" altLang="en-US" sz="1200" dirty="0" smtClean="0"/>
              <a:t>背景架設</a:t>
            </a:r>
            <a:r>
              <a:rPr lang="en-US" altLang="zh-TW" sz="1200" dirty="0" err="1" smtClean="0"/>
              <a:t>tcp</a:t>
            </a:r>
            <a:r>
              <a:rPr lang="zh-TW" altLang="en-US" sz="1200" dirty="0" smtClean="0"/>
              <a:t>並互</a:t>
            </a:r>
            <a:r>
              <a:rPr lang="en-US" altLang="zh-TW" sz="1200" dirty="0" smtClean="0"/>
              <a:t>ping</a:t>
            </a:r>
          </a:p>
          <a:p>
            <a:r>
              <a:rPr lang="en-US" altLang="zh-TW" sz="1200" dirty="0" smtClean="0"/>
              <a:t>Mode 4: exit</a:t>
            </a:r>
          </a:p>
          <a:p>
            <a:endParaRPr lang="en-US" altLang="zh-TW" sz="1400" dirty="0" smtClean="0"/>
          </a:p>
        </p:txBody>
      </p:sp>
      <p:sp>
        <p:nvSpPr>
          <p:cNvPr id="21" name="矩形 20"/>
          <p:cNvSpPr/>
          <p:nvPr/>
        </p:nvSpPr>
        <p:spPr>
          <a:xfrm>
            <a:off x="8711738" y="6013364"/>
            <a:ext cx="3183775" cy="6108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/>
          <p:cNvSpPr txBox="1"/>
          <p:nvPr/>
        </p:nvSpPr>
        <p:spPr>
          <a:xfrm>
            <a:off x="6929387" y="1198464"/>
            <a:ext cx="1695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 smtClean="0"/>
              <a:t>透過</a:t>
            </a:r>
            <a:r>
              <a:rPr lang="en-US" altLang="zh-TW" sz="1200" dirty="0" smtClean="0"/>
              <a:t>SSH</a:t>
            </a:r>
            <a:r>
              <a:rPr lang="zh-TW" altLang="en-US" sz="1200" dirty="0" smtClean="0"/>
              <a:t>連線至</a:t>
            </a:r>
            <a:r>
              <a:rPr lang="en-US" altLang="zh-TW" sz="1200" dirty="0" smtClean="0"/>
              <a:t>client</a:t>
            </a:r>
            <a:endParaRPr lang="zh-TW" altLang="en-US" sz="12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6753726" y="5994956"/>
            <a:ext cx="1695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 smtClean="0"/>
              <a:t>回傳</a:t>
            </a:r>
            <a:r>
              <a:rPr lang="en-US" altLang="zh-TW" sz="1600" dirty="0" smtClean="0"/>
              <a:t>control panel</a:t>
            </a:r>
            <a:endParaRPr lang="zh-TW" altLang="en-US" sz="1600" dirty="0"/>
          </a:p>
        </p:txBody>
      </p:sp>
      <p:grpSp>
        <p:nvGrpSpPr>
          <p:cNvPr id="56" name="群組 55"/>
          <p:cNvGrpSpPr/>
          <p:nvPr/>
        </p:nvGrpSpPr>
        <p:grpSpPr>
          <a:xfrm>
            <a:off x="156194" y="6043244"/>
            <a:ext cx="1502363" cy="573242"/>
            <a:chOff x="1286759" y="5164478"/>
            <a:chExt cx="2158261" cy="682716"/>
          </a:xfrm>
          <a:solidFill>
            <a:srgbClr val="92D050"/>
          </a:solidFill>
        </p:grpSpPr>
        <p:sp>
          <p:nvSpPr>
            <p:cNvPr id="57" name="矩形 56"/>
            <p:cNvSpPr/>
            <p:nvPr/>
          </p:nvSpPr>
          <p:spPr>
            <a:xfrm>
              <a:off x="1330546" y="5164478"/>
              <a:ext cx="1995054" cy="6827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1286759" y="5184279"/>
              <a:ext cx="2158261" cy="6597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TW" altLang="en-US" sz="1000" dirty="0" smtClean="0"/>
                <a:t>任何步驟出現系統錯誤後馬上輸出</a:t>
              </a:r>
              <a:r>
                <a:rPr lang="en-US" altLang="zh-TW" sz="1000" dirty="0" smtClean="0"/>
                <a:t>error.txt</a:t>
              </a:r>
            </a:p>
            <a:p>
              <a:r>
                <a:rPr lang="zh-TW" altLang="en-US" sz="1000" dirty="0" smtClean="0"/>
                <a:t>並繼續執行下一組測試</a:t>
              </a:r>
              <a:endParaRPr lang="zh-TW" altLang="en-US" sz="1000" dirty="0"/>
            </a:p>
          </p:txBody>
        </p:sp>
      </p:grpSp>
      <p:sp>
        <p:nvSpPr>
          <p:cNvPr id="60" name="矩形 59"/>
          <p:cNvSpPr/>
          <p:nvPr/>
        </p:nvSpPr>
        <p:spPr>
          <a:xfrm>
            <a:off x="1721367" y="6043244"/>
            <a:ext cx="4897193" cy="600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文字方塊 60"/>
          <p:cNvSpPr txBox="1"/>
          <p:nvPr/>
        </p:nvSpPr>
        <p:spPr>
          <a:xfrm>
            <a:off x="1721368" y="6068990"/>
            <a:ext cx="489719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300" dirty="0"/>
              <a:t>通過結果會顯示在</a:t>
            </a:r>
            <a:r>
              <a:rPr lang="en-US" altLang="zh-TW" sz="1300" dirty="0"/>
              <a:t>final_result.txt</a:t>
            </a:r>
            <a:r>
              <a:rPr lang="zh-TW" altLang="en-US" sz="1300" dirty="0"/>
              <a:t>中，包含第幾次、</a:t>
            </a:r>
            <a:r>
              <a:rPr lang="en-US" altLang="zh-TW" sz="1300" dirty="0"/>
              <a:t>mode</a:t>
            </a:r>
            <a:r>
              <a:rPr lang="zh-TW" altLang="en-US" sz="1300" dirty="0"/>
              <a:t>如何、以及通過的</a:t>
            </a:r>
            <a:r>
              <a:rPr lang="en-US" altLang="zh-TW" sz="1300" dirty="0"/>
              <a:t>%</a:t>
            </a:r>
            <a:r>
              <a:rPr lang="zh-TW" altLang="en-US" sz="1300" dirty="0" smtClean="0"/>
              <a:t>數。測試完也會回</a:t>
            </a:r>
            <a:r>
              <a:rPr lang="zh-TW" altLang="en-US" sz="1300" dirty="0"/>
              <a:t>傳到</a:t>
            </a:r>
            <a:r>
              <a:rPr lang="en-US" altLang="zh-TW" sz="1300" dirty="0"/>
              <a:t>control panel</a:t>
            </a:r>
            <a:r>
              <a:rPr lang="zh-TW" altLang="en-US" sz="1300" dirty="0"/>
              <a:t>的</a:t>
            </a:r>
            <a:r>
              <a:rPr lang="en-US" altLang="zh-TW" sz="1300" dirty="0" smtClean="0"/>
              <a:t>terminal</a:t>
            </a:r>
            <a:r>
              <a:rPr lang="zh-TW" altLang="en-US" sz="1300" dirty="0"/>
              <a:t>上</a:t>
            </a:r>
            <a:endParaRPr lang="en-US" altLang="zh-TW" sz="13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8711738" y="6057164"/>
            <a:ext cx="318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 smtClean="0"/>
              <a:t>control.py </a:t>
            </a:r>
            <a:r>
              <a:rPr lang="zh-TW" altLang="en-US" sz="1400" dirty="0" smtClean="0"/>
              <a:t>透過 </a:t>
            </a:r>
            <a:r>
              <a:rPr lang="en-US" altLang="zh-TW" sz="1400" dirty="0" smtClean="0"/>
              <a:t>SSH </a:t>
            </a:r>
            <a:r>
              <a:rPr lang="zh-TW" altLang="en-US" sz="1400" dirty="0" smtClean="0"/>
              <a:t>抓回</a:t>
            </a:r>
            <a:r>
              <a:rPr lang="en-US" altLang="zh-TW" sz="1400" dirty="0" smtClean="0"/>
              <a:t>final_result.txt</a:t>
            </a:r>
          </a:p>
          <a:p>
            <a:pPr algn="ctr"/>
            <a:r>
              <a:rPr lang="zh-TW" altLang="en-US" sz="1400" dirty="0" smtClean="0"/>
              <a:t>內容</a:t>
            </a:r>
            <a:r>
              <a:rPr lang="zh-TW" altLang="en-US" sz="1400" dirty="0"/>
              <a:t>僅會</a:t>
            </a:r>
            <a:r>
              <a:rPr lang="zh-TW" altLang="en-US" sz="1400" dirty="0" smtClean="0"/>
              <a:t>有第</a:t>
            </a:r>
            <a:r>
              <a:rPr lang="en-US" altLang="zh-TW" sz="1400" dirty="0" smtClean="0"/>
              <a:t>N</a:t>
            </a:r>
            <a:r>
              <a:rPr lang="zh-TW" altLang="en-US" sz="1400" dirty="0" smtClean="0"/>
              <a:t>比測資是成功</a:t>
            </a:r>
            <a:r>
              <a:rPr lang="en-US" altLang="zh-TW" sz="1400" dirty="0" smtClean="0"/>
              <a:t>or</a:t>
            </a:r>
            <a:r>
              <a:rPr lang="zh-TW" altLang="en-US" sz="1400" dirty="0" smtClean="0"/>
              <a:t>失敗</a:t>
            </a:r>
            <a:endParaRPr lang="en-US" altLang="zh-TW" sz="1400" dirty="0" smtClean="0"/>
          </a:p>
        </p:txBody>
      </p:sp>
      <p:cxnSp>
        <p:nvCxnSpPr>
          <p:cNvPr id="152" name="直線單箭頭接點 151"/>
          <p:cNvCxnSpPr/>
          <p:nvPr/>
        </p:nvCxnSpPr>
        <p:spPr>
          <a:xfrm flipH="1">
            <a:off x="6786211" y="1475463"/>
            <a:ext cx="17343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直線單箭頭接點 153"/>
          <p:cNvCxnSpPr>
            <a:endCxn id="90" idx="1"/>
          </p:cNvCxnSpPr>
          <p:nvPr/>
        </p:nvCxnSpPr>
        <p:spPr>
          <a:xfrm>
            <a:off x="6753726" y="6318774"/>
            <a:ext cx="17668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8711737" y="4001417"/>
            <a:ext cx="3183775" cy="71480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8706487" y="4080334"/>
            <a:ext cx="31837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/>
              <a:t>設定</a:t>
            </a:r>
            <a:r>
              <a:rPr lang="en-US" altLang="zh-TW" sz="1400" dirty="0"/>
              <a:t>control.py </a:t>
            </a:r>
          </a:p>
          <a:p>
            <a:pPr algn="ctr"/>
            <a:r>
              <a:rPr lang="zh-TW" altLang="en-US" sz="1400" dirty="0"/>
              <a:t>包含目標</a:t>
            </a:r>
            <a:r>
              <a:rPr lang="en-US" altLang="zh-TW" sz="1400" dirty="0" err="1"/>
              <a:t>ip</a:t>
            </a:r>
            <a:r>
              <a:rPr lang="en-US" altLang="zh-TW" sz="1400" dirty="0"/>
              <a:t> </a:t>
            </a:r>
            <a:r>
              <a:rPr lang="en-US" altLang="zh-TW" sz="1400" dirty="0" err="1"/>
              <a:t>addr</a:t>
            </a:r>
            <a:r>
              <a:rPr lang="en-US" altLang="zh-TW" sz="1400" dirty="0"/>
              <a:t>/port/user/</a:t>
            </a:r>
            <a:r>
              <a:rPr lang="en-US" altLang="zh-TW" sz="1400" dirty="0" err="1"/>
              <a:t>passwd</a:t>
            </a:r>
            <a:endParaRPr lang="en-US" altLang="zh-TW" sz="1400" dirty="0"/>
          </a:p>
          <a:p>
            <a:pPr algn="ctr"/>
            <a:endParaRPr lang="en-US" altLang="zh-TW" sz="1400" dirty="0"/>
          </a:p>
          <a:p>
            <a:pPr algn="ctr"/>
            <a:endParaRPr lang="zh-TW" altLang="en-US" dirty="0"/>
          </a:p>
        </p:txBody>
      </p:sp>
      <p:grpSp>
        <p:nvGrpSpPr>
          <p:cNvPr id="81" name="群組 80"/>
          <p:cNvGrpSpPr/>
          <p:nvPr/>
        </p:nvGrpSpPr>
        <p:grpSpPr>
          <a:xfrm>
            <a:off x="8711737" y="864277"/>
            <a:ext cx="3183775" cy="1057161"/>
            <a:chOff x="8406937" y="4213927"/>
            <a:chExt cx="3183775" cy="1712790"/>
          </a:xfrm>
        </p:grpSpPr>
        <p:sp>
          <p:nvSpPr>
            <p:cNvPr id="82" name="矩形 81"/>
            <p:cNvSpPr/>
            <p:nvPr/>
          </p:nvSpPr>
          <p:spPr>
            <a:xfrm>
              <a:off x="8406937" y="4213927"/>
              <a:ext cx="3183775" cy="100929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文字方塊 86"/>
            <p:cNvSpPr txBox="1"/>
            <p:nvPr/>
          </p:nvSpPr>
          <p:spPr>
            <a:xfrm>
              <a:off x="8409782" y="4281161"/>
              <a:ext cx="3175678" cy="1645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 smtClean="0"/>
                <a:t>設定</a:t>
              </a:r>
              <a:r>
                <a:rPr lang="en-US" altLang="zh-TW" sz="1400" dirty="0" smtClean="0"/>
                <a:t>switch</a:t>
              </a:r>
              <a:r>
                <a:rPr lang="zh-TW" altLang="en-US" sz="1400" dirty="0" smtClean="0"/>
                <a:t>，並將燒好的 </a:t>
              </a:r>
              <a:r>
                <a:rPr lang="en-US" altLang="zh-TW" sz="1400" dirty="0" err="1" smtClean="0"/>
                <a:t>fw_config.bin</a:t>
              </a:r>
              <a:endParaRPr lang="en-US" altLang="zh-TW" sz="1400" dirty="0" smtClean="0"/>
            </a:p>
            <a:p>
              <a:pPr algn="ctr"/>
              <a:r>
                <a:rPr lang="zh-TW" altLang="en-US" sz="1400" dirty="0" smtClean="0"/>
                <a:t>放到</a:t>
              </a:r>
              <a:r>
                <a:rPr lang="en-US" altLang="zh-TW" sz="1400" dirty="0" smtClean="0"/>
                <a:t>cle_va_usb_210107</a:t>
              </a:r>
              <a:r>
                <a:rPr lang="zh-TW" altLang="en-US" sz="1400" dirty="0" smtClean="0"/>
                <a:t>資料夾下方</a:t>
              </a:r>
              <a:endParaRPr lang="en-US" altLang="zh-TW" sz="1400" dirty="0"/>
            </a:p>
            <a:p>
              <a:pPr algn="ctr"/>
              <a:endParaRPr lang="en-US" altLang="zh-TW" sz="1400" dirty="0"/>
            </a:p>
            <a:p>
              <a:pPr algn="ctr"/>
              <a:endParaRPr lang="zh-TW" altLang="en-US" dirty="0"/>
            </a:p>
          </p:txBody>
        </p:sp>
      </p:grpSp>
      <p:sp>
        <p:nvSpPr>
          <p:cNvPr id="88" name="矩形 87"/>
          <p:cNvSpPr/>
          <p:nvPr/>
        </p:nvSpPr>
        <p:spPr>
          <a:xfrm>
            <a:off x="8706486" y="4918877"/>
            <a:ext cx="3183775" cy="53828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文字方塊 88"/>
          <p:cNvSpPr txBox="1"/>
          <p:nvPr/>
        </p:nvSpPr>
        <p:spPr>
          <a:xfrm>
            <a:off x="8711737" y="5035255"/>
            <a:ext cx="3178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 smtClean="0"/>
              <a:t>執行</a:t>
            </a:r>
            <a:r>
              <a:rPr lang="en-US" altLang="zh-TW" sz="1400" dirty="0" smtClean="0"/>
              <a:t>control.py </a:t>
            </a:r>
            <a:endParaRPr lang="en-US" altLang="zh-TW" sz="1400" dirty="0"/>
          </a:p>
          <a:p>
            <a:pPr algn="ctr"/>
            <a:endParaRPr lang="zh-TW" altLang="en-US" dirty="0"/>
          </a:p>
        </p:txBody>
      </p:sp>
      <p:sp>
        <p:nvSpPr>
          <p:cNvPr id="102" name="矩形 101"/>
          <p:cNvSpPr/>
          <p:nvPr/>
        </p:nvSpPr>
        <p:spPr>
          <a:xfrm>
            <a:off x="189855" y="756196"/>
            <a:ext cx="6428706" cy="3099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文字方塊 102"/>
          <p:cNvSpPr txBox="1"/>
          <p:nvPr/>
        </p:nvSpPr>
        <p:spPr>
          <a:xfrm>
            <a:off x="254334" y="755034"/>
            <a:ext cx="6379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control.py </a:t>
            </a:r>
            <a:r>
              <a:rPr lang="zh-TW" altLang="en-US" sz="1400" dirty="0" smtClean="0"/>
              <a:t>遠端呼叫</a:t>
            </a:r>
            <a:r>
              <a:rPr lang="en-US" altLang="zh-TW" sz="1400" dirty="0" smtClean="0"/>
              <a:t>main.sh</a:t>
            </a:r>
            <a:endParaRPr lang="en-US" altLang="zh-TW" sz="1400" dirty="0"/>
          </a:p>
        </p:txBody>
      </p:sp>
      <p:sp>
        <p:nvSpPr>
          <p:cNvPr id="107" name="文字方塊 106"/>
          <p:cNvSpPr txBox="1"/>
          <p:nvPr/>
        </p:nvSpPr>
        <p:spPr>
          <a:xfrm>
            <a:off x="3369522" y="1599783"/>
            <a:ext cx="3270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/>
              <a:t>所有</a:t>
            </a:r>
            <a:r>
              <a:rPr lang="en-US" altLang="zh-TW" sz="1400" dirty="0"/>
              <a:t>ping</a:t>
            </a:r>
            <a:r>
              <a:rPr lang="zh-TW" altLang="en-US" sz="1400" dirty="0"/>
              <a:t>結果會輸入</a:t>
            </a:r>
            <a:r>
              <a:rPr lang="en-US" altLang="zh-TW" sz="1400" dirty="0"/>
              <a:t>ping_record.txt</a:t>
            </a:r>
          </a:p>
        </p:txBody>
      </p:sp>
      <p:sp>
        <p:nvSpPr>
          <p:cNvPr id="136" name="文字方塊 135"/>
          <p:cNvSpPr txBox="1"/>
          <p:nvPr/>
        </p:nvSpPr>
        <p:spPr>
          <a:xfrm>
            <a:off x="254334" y="1174151"/>
            <a:ext cx="6370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/>
              <a:t>按照</a:t>
            </a:r>
            <a:r>
              <a:rPr lang="en-US" altLang="zh-TW" sz="1400" dirty="0"/>
              <a:t>main.sh</a:t>
            </a:r>
            <a:r>
              <a:rPr lang="zh-TW" altLang="en-US" sz="1400" dirty="0"/>
              <a:t>重新設定後的</a:t>
            </a:r>
            <a:r>
              <a:rPr lang="zh-TW" altLang="en-US" sz="1400" dirty="0" smtClean="0"/>
              <a:t>資訊呼叫</a:t>
            </a:r>
            <a:r>
              <a:rPr lang="en-US" altLang="zh-TW" sz="1400" dirty="0" smtClean="0"/>
              <a:t>pkt_test.sh</a:t>
            </a:r>
            <a:r>
              <a:rPr lang="zh-TW" altLang="en-US" sz="1400" dirty="0" smtClean="0"/>
              <a:t>，並在背景執行</a:t>
            </a:r>
            <a:r>
              <a:rPr lang="en-US" altLang="zh-TW" sz="1400" dirty="0" smtClean="0"/>
              <a:t>ping</a:t>
            </a:r>
            <a:endParaRPr lang="en-US" altLang="zh-TW" sz="1400" dirty="0"/>
          </a:p>
        </p:txBody>
      </p:sp>
      <p:sp>
        <p:nvSpPr>
          <p:cNvPr id="140" name="文字方塊 139"/>
          <p:cNvSpPr txBox="1"/>
          <p:nvPr/>
        </p:nvSpPr>
        <p:spPr>
          <a:xfrm>
            <a:off x="295778" y="2831548"/>
            <a:ext cx="6364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 smtClean="0"/>
              <a:t>執行</a:t>
            </a:r>
            <a:r>
              <a:rPr lang="en-US" altLang="zh-TW" sz="1400" dirty="0" smtClean="0"/>
              <a:t>icmp_analyze.sh</a:t>
            </a:r>
            <a:endParaRPr lang="en-US" altLang="zh-TW" sz="1400" dirty="0"/>
          </a:p>
        </p:txBody>
      </p:sp>
      <p:sp>
        <p:nvSpPr>
          <p:cNvPr id="143" name="文字方塊 142"/>
          <p:cNvSpPr txBox="1"/>
          <p:nvPr/>
        </p:nvSpPr>
        <p:spPr>
          <a:xfrm>
            <a:off x="532014" y="3160892"/>
            <a:ext cx="5810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/>
              <a:t>將</a:t>
            </a:r>
            <a:r>
              <a:rPr lang="en-US" altLang="zh-TW" sz="1400" dirty="0"/>
              <a:t>icmp_first_4_row.txt</a:t>
            </a:r>
            <a:r>
              <a:rPr lang="zh-TW" altLang="en-US" sz="1400" dirty="0"/>
              <a:t>中按照不同封包分裝到</a:t>
            </a:r>
            <a:r>
              <a:rPr lang="en-US" altLang="zh-TW" sz="1400" dirty="0"/>
              <a:t>icmpX.txt(X</a:t>
            </a:r>
            <a:r>
              <a:rPr lang="zh-TW" altLang="en-US" sz="1400" dirty="0"/>
              <a:t>是計數</a:t>
            </a:r>
            <a:r>
              <a:rPr lang="en-US" altLang="zh-TW" sz="1400" dirty="0"/>
              <a:t>)</a:t>
            </a:r>
          </a:p>
        </p:txBody>
      </p:sp>
      <p:sp>
        <p:nvSpPr>
          <p:cNvPr id="163" name="矩形 162"/>
          <p:cNvSpPr/>
          <p:nvPr/>
        </p:nvSpPr>
        <p:spPr>
          <a:xfrm>
            <a:off x="189855" y="2414641"/>
            <a:ext cx="6428706" cy="3099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0" name="文字方塊 149"/>
          <p:cNvSpPr txBox="1"/>
          <p:nvPr/>
        </p:nvSpPr>
        <p:spPr>
          <a:xfrm>
            <a:off x="295778" y="2414920"/>
            <a:ext cx="6338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/>
              <a:t>將需要的部分抓出，存入</a:t>
            </a:r>
            <a:r>
              <a:rPr lang="en-US" altLang="zh-TW" sz="1400" dirty="0" smtClean="0"/>
              <a:t>icmp_first_4_row.txt</a:t>
            </a:r>
            <a:r>
              <a:rPr lang="zh-TW" altLang="en-US" sz="1400" dirty="0" smtClean="0"/>
              <a:t>後，呼叫</a:t>
            </a:r>
            <a:r>
              <a:rPr lang="en-US" altLang="zh-TW" sz="1400" dirty="0" smtClean="0"/>
              <a:t>icmp_analyze.sh</a:t>
            </a:r>
            <a:endParaRPr lang="en-US" altLang="zh-TW" sz="1400" dirty="0"/>
          </a:p>
        </p:txBody>
      </p:sp>
      <p:sp>
        <p:nvSpPr>
          <p:cNvPr id="162" name="矩形 161"/>
          <p:cNvSpPr/>
          <p:nvPr/>
        </p:nvSpPr>
        <p:spPr>
          <a:xfrm>
            <a:off x="189855" y="2000912"/>
            <a:ext cx="6428706" cy="3099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5" name="文字方塊 154"/>
          <p:cNvSpPr txBox="1"/>
          <p:nvPr/>
        </p:nvSpPr>
        <p:spPr>
          <a:xfrm>
            <a:off x="295778" y="2011613"/>
            <a:ext cx="63478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 smtClean="0"/>
              <a:t>所有</a:t>
            </a:r>
            <a:r>
              <a:rPr lang="zh-TW" altLang="en-US" sz="1400" dirty="0"/>
              <a:t>擷取</a:t>
            </a:r>
            <a:r>
              <a:rPr lang="zh-TW" altLang="en-US" sz="1400" dirty="0" smtClean="0"/>
              <a:t>結果</a:t>
            </a:r>
            <a:r>
              <a:rPr lang="zh-TW" altLang="en-US" sz="1400" dirty="0"/>
              <a:t>會輸入</a:t>
            </a:r>
            <a:r>
              <a:rPr lang="en-US" altLang="zh-TW" sz="1400" dirty="0" smtClean="0"/>
              <a:t>icmp.txt</a:t>
            </a:r>
            <a:endParaRPr lang="en-US" altLang="zh-TW" sz="1400" dirty="0"/>
          </a:p>
        </p:txBody>
      </p:sp>
      <p:sp>
        <p:nvSpPr>
          <p:cNvPr id="158" name="文字方塊 157"/>
          <p:cNvSpPr txBox="1"/>
          <p:nvPr/>
        </p:nvSpPr>
        <p:spPr>
          <a:xfrm>
            <a:off x="295778" y="1600816"/>
            <a:ext cx="2882551" cy="269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/>
              <a:t>利用</a:t>
            </a:r>
            <a:r>
              <a:rPr lang="en-US" altLang="zh-TW" sz="1400" dirty="0" err="1"/>
              <a:t>tshark</a:t>
            </a:r>
            <a:r>
              <a:rPr lang="zh-TW" altLang="en-US" sz="1400" dirty="0"/>
              <a:t>擷取封</a:t>
            </a:r>
            <a:r>
              <a:rPr lang="zh-TW" altLang="en-US" sz="1400" dirty="0" smtClean="0"/>
              <a:t>包</a:t>
            </a:r>
            <a:endParaRPr lang="en-US" altLang="zh-TW" sz="1400" dirty="0"/>
          </a:p>
        </p:txBody>
      </p:sp>
      <p:sp>
        <p:nvSpPr>
          <p:cNvPr id="167" name="矩形 166"/>
          <p:cNvSpPr/>
          <p:nvPr/>
        </p:nvSpPr>
        <p:spPr>
          <a:xfrm>
            <a:off x="461503" y="3558959"/>
            <a:ext cx="5885411" cy="3099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8" name="文字方塊 167"/>
          <p:cNvSpPr txBox="1"/>
          <p:nvPr/>
        </p:nvSpPr>
        <p:spPr>
          <a:xfrm>
            <a:off x="481153" y="3570100"/>
            <a:ext cx="586145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300" dirty="0"/>
              <a:t>判斷</a:t>
            </a:r>
            <a:r>
              <a:rPr lang="zh-TW" altLang="en-US" sz="1300" dirty="0" smtClean="0"/>
              <a:t>各</a:t>
            </a:r>
            <a:r>
              <a:rPr lang="zh-TW" altLang="en-US" sz="1300" dirty="0"/>
              <a:t>封</a:t>
            </a:r>
            <a:r>
              <a:rPr lang="zh-TW" altLang="en-US" sz="1300" dirty="0" smtClean="0"/>
              <a:t>包</a:t>
            </a:r>
            <a:r>
              <a:rPr lang="en-US" altLang="zh-TW" sz="1300" dirty="0" smtClean="0"/>
              <a:t>Protocol</a:t>
            </a:r>
            <a:r>
              <a:rPr lang="zh-TW" altLang="en-US" sz="1300" dirty="0"/>
              <a:t>、</a:t>
            </a:r>
            <a:r>
              <a:rPr lang="en-US" altLang="zh-TW" sz="1300" dirty="0"/>
              <a:t>Source IP</a:t>
            </a:r>
            <a:r>
              <a:rPr lang="zh-TW" altLang="en-US" sz="1300" dirty="0"/>
              <a:t>、</a:t>
            </a:r>
            <a:r>
              <a:rPr lang="en-US" altLang="zh-TW" sz="1300" dirty="0"/>
              <a:t>Distance IP</a:t>
            </a:r>
            <a:r>
              <a:rPr lang="zh-TW" altLang="en-US" sz="1300" dirty="0"/>
              <a:t>、</a:t>
            </a:r>
            <a:r>
              <a:rPr lang="en-US" altLang="zh-TW" sz="1300" dirty="0"/>
              <a:t>Reply/Request</a:t>
            </a:r>
            <a:r>
              <a:rPr lang="zh-TW" altLang="en-US" sz="1300" dirty="0" smtClean="0"/>
              <a:t>、</a:t>
            </a:r>
            <a:r>
              <a:rPr lang="en-US" altLang="zh-TW" sz="1300" dirty="0" smtClean="0"/>
              <a:t>Sequence </a:t>
            </a:r>
            <a:r>
              <a:rPr lang="en-US" altLang="zh-TW" sz="1300" dirty="0"/>
              <a:t>Number</a:t>
            </a:r>
          </a:p>
        </p:txBody>
      </p:sp>
      <p:sp>
        <p:nvSpPr>
          <p:cNvPr id="169" name="矩形 168"/>
          <p:cNvSpPr/>
          <p:nvPr/>
        </p:nvSpPr>
        <p:spPr>
          <a:xfrm>
            <a:off x="461503" y="3950635"/>
            <a:ext cx="5885411" cy="3099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0" name="文字方塊 169"/>
          <p:cNvSpPr txBox="1"/>
          <p:nvPr/>
        </p:nvSpPr>
        <p:spPr>
          <a:xfrm>
            <a:off x="532013" y="3948840"/>
            <a:ext cx="5810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dirty="0" smtClean="0"/>
              <a:t>將</a:t>
            </a:r>
            <a:r>
              <a:rPr lang="en-US" altLang="zh-TW" sz="1200" dirty="0"/>
              <a:t>Reply/Request </a:t>
            </a:r>
            <a:r>
              <a:rPr lang="zh-TW" altLang="en-US" sz="1200" dirty="0" smtClean="0"/>
              <a:t>封包的 </a:t>
            </a:r>
            <a:r>
              <a:rPr lang="en-US" altLang="zh-TW" sz="1200" dirty="0" smtClean="0"/>
              <a:t>Sequence Number</a:t>
            </a:r>
            <a:r>
              <a:rPr lang="zh-TW" altLang="en-US" sz="1200" dirty="0" smtClean="0"/>
              <a:t> 分別輸出到</a:t>
            </a:r>
            <a:r>
              <a:rPr lang="en-US" altLang="zh-TW" sz="1200" dirty="0" smtClean="0"/>
              <a:t>result_request.txt </a:t>
            </a:r>
            <a:r>
              <a:rPr lang="en-US" altLang="zh-TW" sz="1200" dirty="0"/>
              <a:t>result_reply.txt</a:t>
            </a:r>
            <a:endParaRPr lang="en-US" altLang="zh-TW" sz="1300" dirty="0"/>
          </a:p>
        </p:txBody>
      </p:sp>
      <p:sp>
        <p:nvSpPr>
          <p:cNvPr id="171" name="矩形 170"/>
          <p:cNvSpPr/>
          <p:nvPr/>
        </p:nvSpPr>
        <p:spPr>
          <a:xfrm>
            <a:off x="461503" y="4342311"/>
            <a:ext cx="5885411" cy="3099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2" name="文字方塊 171"/>
          <p:cNvSpPr txBox="1"/>
          <p:nvPr/>
        </p:nvSpPr>
        <p:spPr>
          <a:xfrm>
            <a:off x="481153" y="4349311"/>
            <a:ext cx="586145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300" dirty="0" smtClean="0"/>
              <a:t>將</a:t>
            </a:r>
            <a:r>
              <a:rPr lang="en-US" altLang="zh-TW" sz="1300" dirty="0" smtClean="0"/>
              <a:t>icmp_analyze.sh</a:t>
            </a:r>
            <a:r>
              <a:rPr lang="zh-TW" altLang="en-US" sz="1300" dirty="0" smtClean="0"/>
              <a:t>的分析結果以方便閱讀的形式輸出到</a:t>
            </a:r>
            <a:r>
              <a:rPr lang="en-US" altLang="zh-TW" sz="1300" dirty="0" smtClean="0"/>
              <a:t>icmp_analyze_result.txt</a:t>
            </a:r>
            <a:endParaRPr lang="en-US" altLang="zh-TW" sz="1300" dirty="0"/>
          </a:p>
        </p:txBody>
      </p:sp>
      <p:sp>
        <p:nvSpPr>
          <p:cNvPr id="173" name="矩形 172"/>
          <p:cNvSpPr/>
          <p:nvPr/>
        </p:nvSpPr>
        <p:spPr>
          <a:xfrm>
            <a:off x="189855" y="4900237"/>
            <a:ext cx="6428706" cy="5694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4" name="文字方塊 173"/>
          <p:cNvSpPr txBox="1"/>
          <p:nvPr/>
        </p:nvSpPr>
        <p:spPr>
          <a:xfrm>
            <a:off x="315184" y="4942963"/>
            <a:ext cx="6344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 smtClean="0"/>
              <a:t>pkt_test.sh</a:t>
            </a:r>
            <a:r>
              <a:rPr lang="zh-TW" altLang="en-US" sz="1400" dirty="0" smtClean="0"/>
              <a:t>開始，透過</a:t>
            </a:r>
            <a:r>
              <a:rPr lang="zh-TW" altLang="en-US" sz="1400" dirty="0"/>
              <a:t>觀察比對</a:t>
            </a:r>
            <a:r>
              <a:rPr lang="en-US" altLang="zh-TW" sz="1400" dirty="0"/>
              <a:t>result_request.txt</a:t>
            </a:r>
            <a:r>
              <a:rPr lang="zh-TW" altLang="en-US" sz="1400" dirty="0"/>
              <a:t>及</a:t>
            </a:r>
            <a:r>
              <a:rPr lang="en-US" altLang="zh-TW" sz="1400" dirty="0"/>
              <a:t>result_reply.txt</a:t>
            </a:r>
            <a:r>
              <a:rPr lang="zh-TW" altLang="en-US" sz="1400" dirty="0"/>
              <a:t>的</a:t>
            </a:r>
            <a:r>
              <a:rPr lang="zh-TW" altLang="en-US" sz="1400" dirty="0" smtClean="0"/>
              <a:t>結果</a:t>
            </a:r>
            <a:endParaRPr lang="en-US" altLang="zh-TW" sz="1400" dirty="0" smtClean="0"/>
          </a:p>
          <a:p>
            <a:pPr algn="ctr"/>
            <a:r>
              <a:rPr lang="zh-TW" altLang="en-US" sz="1400" dirty="0" smtClean="0"/>
              <a:t>將</a:t>
            </a:r>
            <a:r>
              <a:rPr lang="zh-TW" altLang="en-US" sz="1400" dirty="0"/>
              <a:t>配對成功的數量*</a:t>
            </a:r>
            <a:r>
              <a:rPr lang="en-US" altLang="zh-TW" sz="1400" dirty="0"/>
              <a:t>2</a:t>
            </a:r>
            <a:r>
              <a:rPr lang="zh-TW" altLang="en-US" sz="1400" dirty="0"/>
              <a:t>後除上總封包數，得到的便是</a:t>
            </a:r>
            <a:r>
              <a:rPr lang="en-US" altLang="zh-TW" sz="1400" dirty="0"/>
              <a:t>ping success</a:t>
            </a:r>
            <a:r>
              <a:rPr lang="zh-TW" altLang="en-US" sz="1400" dirty="0"/>
              <a:t>的比率</a:t>
            </a:r>
            <a:endParaRPr lang="en-US" altLang="zh-TW" sz="1400" dirty="0"/>
          </a:p>
        </p:txBody>
      </p:sp>
      <p:sp>
        <p:nvSpPr>
          <p:cNvPr id="175" name="矩形 174"/>
          <p:cNvSpPr/>
          <p:nvPr/>
        </p:nvSpPr>
        <p:spPr>
          <a:xfrm>
            <a:off x="189855" y="5589025"/>
            <a:ext cx="6428706" cy="3099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6" name="文字方塊 175"/>
          <p:cNvSpPr txBox="1"/>
          <p:nvPr/>
        </p:nvSpPr>
        <p:spPr>
          <a:xfrm>
            <a:off x="295778" y="5588149"/>
            <a:ext cx="6322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/>
              <a:t>依照</a:t>
            </a:r>
            <a:r>
              <a:rPr lang="en-US" altLang="zh-TW" sz="1400" dirty="0"/>
              <a:t>ping</a:t>
            </a:r>
            <a:r>
              <a:rPr lang="zh-TW" altLang="en-US" sz="1400" dirty="0"/>
              <a:t>是否通過</a:t>
            </a:r>
            <a:r>
              <a:rPr lang="en-US" altLang="zh-TW" sz="1400" dirty="0"/>
              <a:t>80%</a:t>
            </a:r>
            <a:r>
              <a:rPr lang="zh-TW" altLang="en-US" sz="1400" dirty="0"/>
              <a:t>決定該次是否測試</a:t>
            </a:r>
            <a:r>
              <a:rPr lang="zh-TW" altLang="en-US" sz="1400" dirty="0" smtClean="0"/>
              <a:t>通過</a:t>
            </a:r>
            <a:endParaRPr lang="en-US" altLang="zh-TW" sz="1400" dirty="0"/>
          </a:p>
        </p:txBody>
      </p:sp>
      <p:cxnSp>
        <p:nvCxnSpPr>
          <p:cNvPr id="94" name="直線單箭頭接點 93"/>
          <p:cNvCxnSpPr>
            <a:stCxn id="103" idx="2"/>
            <a:endCxn id="136" idx="0"/>
          </p:cNvCxnSpPr>
          <p:nvPr/>
        </p:nvCxnSpPr>
        <p:spPr>
          <a:xfrm flipH="1" flipV="1">
            <a:off x="3439481" y="1174151"/>
            <a:ext cx="4762" cy="784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線單箭頭接點 177"/>
          <p:cNvCxnSpPr>
            <a:endCxn id="161" idx="0"/>
          </p:cNvCxnSpPr>
          <p:nvPr/>
        </p:nvCxnSpPr>
        <p:spPr>
          <a:xfrm>
            <a:off x="1658557" y="1475463"/>
            <a:ext cx="14557" cy="108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線單箭頭接點 179"/>
          <p:cNvCxnSpPr/>
          <p:nvPr/>
        </p:nvCxnSpPr>
        <p:spPr>
          <a:xfrm>
            <a:off x="4944750" y="1475463"/>
            <a:ext cx="0" cy="108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線單箭頭接點 181"/>
          <p:cNvCxnSpPr>
            <a:stCxn id="161" idx="2"/>
          </p:cNvCxnSpPr>
          <p:nvPr/>
        </p:nvCxnSpPr>
        <p:spPr>
          <a:xfrm>
            <a:off x="1673114" y="1893562"/>
            <a:ext cx="0" cy="107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線單箭頭接點 183"/>
          <p:cNvCxnSpPr>
            <a:stCxn id="155" idx="2"/>
            <a:endCxn id="150" idx="0"/>
          </p:cNvCxnSpPr>
          <p:nvPr/>
        </p:nvCxnSpPr>
        <p:spPr>
          <a:xfrm flipH="1">
            <a:off x="3464965" y="2319390"/>
            <a:ext cx="4748" cy="95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線單箭頭接點 185"/>
          <p:cNvCxnSpPr>
            <a:stCxn id="150" idx="2"/>
            <a:endCxn id="140" idx="0"/>
          </p:cNvCxnSpPr>
          <p:nvPr/>
        </p:nvCxnSpPr>
        <p:spPr>
          <a:xfrm>
            <a:off x="3464965" y="2722697"/>
            <a:ext cx="12886" cy="108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線單箭頭接點 187"/>
          <p:cNvCxnSpPr>
            <a:stCxn id="164" idx="2"/>
            <a:endCxn id="173" idx="0"/>
          </p:cNvCxnSpPr>
          <p:nvPr/>
        </p:nvCxnSpPr>
        <p:spPr>
          <a:xfrm>
            <a:off x="3404208" y="4784585"/>
            <a:ext cx="0" cy="115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線單箭頭接點 189"/>
          <p:cNvCxnSpPr>
            <a:stCxn id="174" idx="2"/>
          </p:cNvCxnSpPr>
          <p:nvPr/>
        </p:nvCxnSpPr>
        <p:spPr>
          <a:xfrm flipH="1">
            <a:off x="3477851" y="5466183"/>
            <a:ext cx="9703" cy="121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線單箭頭接點 191"/>
          <p:cNvCxnSpPr>
            <a:endCxn id="61" idx="0"/>
          </p:cNvCxnSpPr>
          <p:nvPr/>
        </p:nvCxnSpPr>
        <p:spPr>
          <a:xfrm>
            <a:off x="4156364" y="5879300"/>
            <a:ext cx="13600" cy="189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583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矩形 89"/>
          <p:cNvSpPr/>
          <p:nvPr/>
        </p:nvSpPr>
        <p:spPr>
          <a:xfrm>
            <a:off x="8520545" y="5879300"/>
            <a:ext cx="3566160" cy="8789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73065" y="83126"/>
            <a:ext cx="6662286" cy="66584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4" name="直線單箭頭接點 193"/>
          <p:cNvCxnSpPr/>
          <p:nvPr/>
        </p:nvCxnSpPr>
        <p:spPr>
          <a:xfrm>
            <a:off x="532013" y="1062811"/>
            <a:ext cx="0" cy="4980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8520545" y="108065"/>
            <a:ext cx="3566160" cy="558062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224444" y="224443"/>
            <a:ext cx="6394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Client (</a:t>
            </a:r>
            <a:r>
              <a:rPr lang="en-US" altLang="zh-TW" dirty="0" err="1" smtClean="0"/>
              <a:t>tsetcase</a:t>
            </a:r>
            <a:r>
              <a:rPr lang="en-US" altLang="zh-TW" dirty="0" smtClean="0"/>
              <a:t>: Mode 2:</a:t>
            </a:r>
            <a:r>
              <a:rPr lang="zh-TW" altLang="en-US" dirty="0"/>
              <a:t>直接</a:t>
            </a:r>
            <a:r>
              <a:rPr lang="en-US" altLang="zh-TW" dirty="0"/>
              <a:t>ping</a:t>
            </a:r>
            <a:r>
              <a:rPr lang="zh-TW" altLang="en-US" dirty="0"/>
              <a:t>並判斷螢幕輸出</a:t>
            </a:r>
            <a:r>
              <a:rPr lang="zh-TW" altLang="en-US" dirty="0" smtClean="0"/>
              <a:t>結果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8574578" y="224443"/>
            <a:ext cx="3029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Server (Control Panel)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8711738" y="1735307"/>
            <a:ext cx="3183775" cy="206345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8706485" y="1756310"/>
            <a:ext cx="318377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 smtClean="0"/>
              <a:t>設定</a:t>
            </a:r>
            <a:r>
              <a:rPr lang="en-US" altLang="zh-TW" sz="1400" dirty="0" smtClean="0"/>
              <a:t>ip_list.txt</a:t>
            </a:r>
          </a:p>
          <a:p>
            <a:r>
              <a:rPr lang="en-US" altLang="zh-TW" sz="1400" dirty="0" smtClean="0"/>
              <a:t>(</a:t>
            </a:r>
            <a:r>
              <a:rPr lang="zh-TW" altLang="en-US" sz="1400" dirty="0" smtClean="0"/>
              <a:t>兩張虛擬網卡的</a:t>
            </a:r>
            <a:r>
              <a:rPr lang="en-US" altLang="zh-TW" sz="1400" dirty="0" smtClean="0"/>
              <a:t>namespace</a:t>
            </a:r>
          </a:p>
          <a:p>
            <a:r>
              <a:rPr lang="en-US" altLang="zh-TW" sz="1400" dirty="0" smtClean="0"/>
              <a:t>name/vid/base/ipv4/mask4/gw4/ipv6/mask6/gw6/</a:t>
            </a:r>
            <a:r>
              <a:rPr lang="en-US" altLang="zh-TW" sz="1400" dirty="0" err="1" smtClean="0"/>
              <a:t>gw</a:t>
            </a:r>
            <a:r>
              <a:rPr lang="en-US" altLang="zh-TW" sz="1400" dirty="0" smtClean="0"/>
              <a:t> mac/mode)</a:t>
            </a:r>
          </a:p>
          <a:p>
            <a:endParaRPr lang="en-US" altLang="zh-TW" sz="1400" dirty="0" smtClean="0"/>
          </a:p>
          <a:p>
            <a:r>
              <a:rPr lang="en-US" altLang="zh-TW" sz="1200" dirty="0" smtClean="0"/>
              <a:t>mode 1: </a:t>
            </a:r>
            <a:r>
              <a:rPr lang="zh-TW" altLang="en-US" sz="1200" dirty="0" smtClean="0"/>
              <a:t>在背景</a:t>
            </a:r>
            <a:r>
              <a:rPr lang="en-US" altLang="zh-TW" sz="1200" dirty="0" smtClean="0"/>
              <a:t>ping</a:t>
            </a:r>
            <a:r>
              <a:rPr lang="zh-TW" altLang="en-US" sz="1200" dirty="0" smtClean="0"/>
              <a:t>並擷取封包進行比對</a:t>
            </a:r>
            <a:endParaRPr lang="en-US" altLang="zh-TW" sz="1200" dirty="0" smtClean="0"/>
          </a:p>
          <a:p>
            <a:r>
              <a:rPr lang="en-US" altLang="zh-TW" sz="1200" dirty="0" smtClean="0"/>
              <a:t>mode 2: </a:t>
            </a:r>
            <a:r>
              <a:rPr lang="zh-TW" altLang="en-US" sz="1200" dirty="0" smtClean="0"/>
              <a:t>直接</a:t>
            </a:r>
            <a:r>
              <a:rPr lang="en-US" altLang="zh-TW" sz="1200" dirty="0" smtClean="0"/>
              <a:t>ping</a:t>
            </a:r>
            <a:r>
              <a:rPr lang="zh-TW" altLang="en-US" sz="1200" dirty="0" smtClean="0"/>
              <a:t>並判斷螢幕輸出結果</a:t>
            </a:r>
            <a:endParaRPr lang="en-US" altLang="zh-TW" sz="1200" dirty="0" smtClean="0"/>
          </a:p>
          <a:p>
            <a:r>
              <a:rPr lang="en-US" altLang="zh-TW" sz="1200" dirty="0" smtClean="0"/>
              <a:t>mode 3: </a:t>
            </a:r>
            <a:r>
              <a:rPr lang="zh-TW" altLang="en-US" sz="1200" dirty="0"/>
              <a:t>在</a:t>
            </a:r>
            <a:r>
              <a:rPr lang="zh-TW" altLang="en-US" sz="1200" dirty="0" smtClean="0"/>
              <a:t>背景架設</a:t>
            </a:r>
            <a:r>
              <a:rPr lang="en-US" altLang="zh-TW" sz="1200" dirty="0" err="1" smtClean="0"/>
              <a:t>tcp</a:t>
            </a:r>
            <a:r>
              <a:rPr lang="zh-TW" altLang="en-US" sz="1200" dirty="0" smtClean="0"/>
              <a:t>並互</a:t>
            </a:r>
            <a:r>
              <a:rPr lang="en-US" altLang="zh-TW" sz="1200" dirty="0" smtClean="0"/>
              <a:t>ping</a:t>
            </a:r>
          </a:p>
          <a:p>
            <a:r>
              <a:rPr lang="en-US" altLang="zh-TW" sz="1200" dirty="0" smtClean="0"/>
              <a:t>Mode 4: exit</a:t>
            </a:r>
          </a:p>
          <a:p>
            <a:endParaRPr lang="en-US" altLang="zh-TW" sz="1400" dirty="0" smtClean="0"/>
          </a:p>
        </p:txBody>
      </p:sp>
      <p:sp>
        <p:nvSpPr>
          <p:cNvPr id="21" name="矩形 20"/>
          <p:cNvSpPr/>
          <p:nvPr/>
        </p:nvSpPr>
        <p:spPr>
          <a:xfrm>
            <a:off x="8711738" y="6013364"/>
            <a:ext cx="3183775" cy="6108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/>
          <p:cNvSpPr txBox="1"/>
          <p:nvPr/>
        </p:nvSpPr>
        <p:spPr>
          <a:xfrm>
            <a:off x="6929387" y="1198464"/>
            <a:ext cx="1695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 smtClean="0"/>
              <a:t>透過</a:t>
            </a:r>
            <a:r>
              <a:rPr lang="en-US" altLang="zh-TW" sz="1200" dirty="0" smtClean="0"/>
              <a:t>SSH</a:t>
            </a:r>
            <a:r>
              <a:rPr lang="zh-TW" altLang="en-US" sz="1200" dirty="0" smtClean="0"/>
              <a:t>連線至</a:t>
            </a:r>
            <a:r>
              <a:rPr lang="en-US" altLang="zh-TW" sz="1200" dirty="0" smtClean="0"/>
              <a:t>client</a:t>
            </a:r>
            <a:endParaRPr lang="zh-TW" altLang="en-US" sz="12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6753726" y="5994956"/>
            <a:ext cx="1695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 smtClean="0"/>
              <a:t>回傳</a:t>
            </a:r>
            <a:r>
              <a:rPr lang="en-US" altLang="zh-TW" sz="1600" dirty="0" smtClean="0"/>
              <a:t>control panel</a:t>
            </a:r>
            <a:endParaRPr lang="zh-TW" altLang="en-US" sz="1600" dirty="0"/>
          </a:p>
        </p:txBody>
      </p:sp>
      <p:grpSp>
        <p:nvGrpSpPr>
          <p:cNvPr id="22" name="群組 21"/>
          <p:cNvGrpSpPr/>
          <p:nvPr/>
        </p:nvGrpSpPr>
        <p:grpSpPr>
          <a:xfrm>
            <a:off x="156194" y="6043244"/>
            <a:ext cx="6462366" cy="600209"/>
            <a:chOff x="156194" y="6043244"/>
            <a:chExt cx="6462366" cy="600209"/>
          </a:xfrm>
        </p:grpSpPr>
        <p:grpSp>
          <p:nvGrpSpPr>
            <p:cNvPr id="56" name="群組 55"/>
            <p:cNvGrpSpPr/>
            <p:nvPr/>
          </p:nvGrpSpPr>
          <p:grpSpPr>
            <a:xfrm>
              <a:off x="156194" y="6043244"/>
              <a:ext cx="1502363" cy="573242"/>
              <a:chOff x="1286759" y="5164478"/>
              <a:chExt cx="2158261" cy="682716"/>
            </a:xfrm>
            <a:solidFill>
              <a:srgbClr val="92D050"/>
            </a:solidFill>
          </p:grpSpPr>
          <p:sp>
            <p:nvSpPr>
              <p:cNvPr id="57" name="矩形 56"/>
              <p:cNvSpPr/>
              <p:nvPr/>
            </p:nvSpPr>
            <p:spPr>
              <a:xfrm>
                <a:off x="1330546" y="5164478"/>
                <a:ext cx="1995054" cy="68271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8" name="文字方塊 57"/>
              <p:cNvSpPr txBox="1"/>
              <p:nvPr/>
            </p:nvSpPr>
            <p:spPr>
              <a:xfrm>
                <a:off x="1286759" y="5184279"/>
                <a:ext cx="2158261" cy="659796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1000" dirty="0" smtClean="0"/>
                  <a:t>任何步驟出現系統錯誤後馬上輸出</a:t>
                </a:r>
                <a:r>
                  <a:rPr lang="en-US" altLang="zh-TW" sz="1000" dirty="0" smtClean="0"/>
                  <a:t>error.txt</a:t>
                </a:r>
              </a:p>
              <a:p>
                <a:r>
                  <a:rPr lang="zh-TW" altLang="en-US" sz="1000" dirty="0" smtClean="0"/>
                  <a:t>並繼續執行下一組測試</a:t>
                </a:r>
                <a:endParaRPr lang="zh-TW" altLang="en-US" sz="1000" dirty="0"/>
              </a:p>
            </p:txBody>
          </p:sp>
        </p:grpSp>
        <p:sp>
          <p:nvSpPr>
            <p:cNvPr id="60" name="矩形 59"/>
            <p:cNvSpPr/>
            <p:nvPr/>
          </p:nvSpPr>
          <p:spPr>
            <a:xfrm>
              <a:off x="1721367" y="6043244"/>
              <a:ext cx="4897193" cy="60020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1721368" y="6068990"/>
              <a:ext cx="4897192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300" dirty="0"/>
                <a:t>通過結果會顯示在</a:t>
              </a:r>
              <a:r>
                <a:rPr lang="en-US" altLang="zh-TW" sz="1300" dirty="0"/>
                <a:t>final_result.txt</a:t>
              </a:r>
              <a:r>
                <a:rPr lang="zh-TW" altLang="en-US" sz="1300" dirty="0"/>
                <a:t>中，包含第幾次、</a:t>
              </a:r>
              <a:r>
                <a:rPr lang="en-US" altLang="zh-TW" sz="1300" dirty="0"/>
                <a:t>mode</a:t>
              </a:r>
              <a:r>
                <a:rPr lang="zh-TW" altLang="en-US" sz="1300" dirty="0"/>
                <a:t>如何、</a:t>
              </a:r>
              <a:r>
                <a:rPr lang="zh-TW" altLang="en-US" sz="1300" dirty="0" smtClean="0"/>
                <a:t>以及是否通過。測試完也會回</a:t>
              </a:r>
              <a:r>
                <a:rPr lang="zh-TW" altLang="en-US" sz="1300" dirty="0"/>
                <a:t>傳到</a:t>
              </a:r>
              <a:r>
                <a:rPr lang="en-US" altLang="zh-TW" sz="1300" dirty="0"/>
                <a:t>control panel</a:t>
              </a:r>
              <a:r>
                <a:rPr lang="zh-TW" altLang="en-US" sz="1300" dirty="0"/>
                <a:t>的</a:t>
              </a:r>
              <a:r>
                <a:rPr lang="en-US" altLang="zh-TW" sz="1300" dirty="0" smtClean="0"/>
                <a:t>terminal</a:t>
              </a:r>
              <a:r>
                <a:rPr lang="zh-TW" altLang="en-US" sz="1300" dirty="0"/>
                <a:t>上</a:t>
              </a:r>
              <a:endParaRPr lang="en-US" altLang="zh-TW" sz="1300" dirty="0"/>
            </a:p>
          </p:txBody>
        </p:sp>
      </p:grpSp>
      <p:sp>
        <p:nvSpPr>
          <p:cNvPr id="83" name="文字方塊 82"/>
          <p:cNvSpPr txBox="1"/>
          <p:nvPr/>
        </p:nvSpPr>
        <p:spPr>
          <a:xfrm>
            <a:off x="8711738" y="6057164"/>
            <a:ext cx="318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 smtClean="0"/>
              <a:t>control.py </a:t>
            </a:r>
            <a:r>
              <a:rPr lang="zh-TW" altLang="en-US" sz="1400" dirty="0" smtClean="0"/>
              <a:t>透過 </a:t>
            </a:r>
            <a:r>
              <a:rPr lang="en-US" altLang="zh-TW" sz="1400" dirty="0" smtClean="0"/>
              <a:t>SSH </a:t>
            </a:r>
            <a:r>
              <a:rPr lang="zh-TW" altLang="en-US" sz="1400" dirty="0" smtClean="0"/>
              <a:t>抓回</a:t>
            </a:r>
            <a:r>
              <a:rPr lang="en-US" altLang="zh-TW" sz="1400" dirty="0" smtClean="0"/>
              <a:t>final_result.txt</a:t>
            </a:r>
          </a:p>
          <a:p>
            <a:pPr algn="ctr"/>
            <a:r>
              <a:rPr lang="zh-TW" altLang="en-US" sz="1400" dirty="0" smtClean="0"/>
              <a:t>內容</a:t>
            </a:r>
            <a:r>
              <a:rPr lang="zh-TW" altLang="en-US" sz="1400" dirty="0"/>
              <a:t>僅會</a:t>
            </a:r>
            <a:r>
              <a:rPr lang="zh-TW" altLang="en-US" sz="1400" dirty="0" smtClean="0"/>
              <a:t>有第</a:t>
            </a:r>
            <a:r>
              <a:rPr lang="en-US" altLang="zh-TW" sz="1400" dirty="0" smtClean="0"/>
              <a:t>N</a:t>
            </a:r>
            <a:r>
              <a:rPr lang="zh-TW" altLang="en-US" sz="1400" dirty="0" smtClean="0"/>
              <a:t>比測資是成功</a:t>
            </a:r>
            <a:r>
              <a:rPr lang="en-US" altLang="zh-TW" sz="1400" dirty="0" smtClean="0"/>
              <a:t>or</a:t>
            </a:r>
            <a:r>
              <a:rPr lang="zh-TW" altLang="en-US" sz="1400" dirty="0" smtClean="0"/>
              <a:t>失敗</a:t>
            </a:r>
            <a:endParaRPr lang="en-US" altLang="zh-TW" sz="1400" dirty="0" smtClean="0"/>
          </a:p>
        </p:txBody>
      </p:sp>
      <p:cxnSp>
        <p:nvCxnSpPr>
          <p:cNvPr id="152" name="直線單箭頭接點 151"/>
          <p:cNvCxnSpPr/>
          <p:nvPr/>
        </p:nvCxnSpPr>
        <p:spPr>
          <a:xfrm flipH="1">
            <a:off x="6786211" y="1475463"/>
            <a:ext cx="17343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直線單箭頭接點 153"/>
          <p:cNvCxnSpPr>
            <a:endCxn id="90" idx="1"/>
          </p:cNvCxnSpPr>
          <p:nvPr/>
        </p:nvCxnSpPr>
        <p:spPr>
          <a:xfrm>
            <a:off x="6753726" y="6318774"/>
            <a:ext cx="17668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8711737" y="4001417"/>
            <a:ext cx="3183775" cy="71480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8706487" y="4080334"/>
            <a:ext cx="31837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/>
              <a:t>設定</a:t>
            </a:r>
            <a:r>
              <a:rPr lang="en-US" altLang="zh-TW" sz="1400" dirty="0"/>
              <a:t>control.py </a:t>
            </a:r>
          </a:p>
          <a:p>
            <a:pPr algn="ctr"/>
            <a:r>
              <a:rPr lang="zh-TW" altLang="en-US" sz="1400" dirty="0"/>
              <a:t>包含目標</a:t>
            </a:r>
            <a:r>
              <a:rPr lang="en-US" altLang="zh-TW" sz="1400" dirty="0" err="1"/>
              <a:t>ip</a:t>
            </a:r>
            <a:r>
              <a:rPr lang="en-US" altLang="zh-TW" sz="1400" dirty="0"/>
              <a:t> </a:t>
            </a:r>
            <a:r>
              <a:rPr lang="en-US" altLang="zh-TW" sz="1400" dirty="0" err="1"/>
              <a:t>addr</a:t>
            </a:r>
            <a:r>
              <a:rPr lang="en-US" altLang="zh-TW" sz="1400" dirty="0"/>
              <a:t>/port/user/</a:t>
            </a:r>
            <a:r>
              <a:rPr lang="en-US" altLang="zh-TW" sz="1400" dirty="0" err="1"/>
              <a:t>passwd</a:t>
            </a:r>
            <a:endParaRPr lang="en-US" altLang="zh-TW" sz="1400" dirty="0"/>
          </a:p>
          <a:p>
            <a:pPr algn="ctr"/>
            <a:endParaRPr lang="en-US" altLang="zh-TW" sz="1400" dirty="0"/>
          </a:p>
          <a:p>
            <a:pPr algn="ctr"/>
            <a:endParaRPr lang="zh-TW" altLang="en-US" dirty="0"/>
          </a:p>
        </p:txBody>
      </p:sp>
      <p:grpSp>
        <p:nvGrpSpPr>
          <p:cNvPr id="81" name="群組 80"/>
          <p:cNvGrpSpPr/>
          <p:nvPr/>
        </p:nvGrpSpPr>
        <p:grpSpPr>
          <a:xfrm>
            <a:off x="8711737" y="864277"/>
            <a:ext cx="3183775" cy="1057161"/>
            <a:chOff x="8406937" y="4213927"/>
            <a:chExt cx="3183775" cy="1712790"/>
          </a:xfrm>
        </p:grpSpPr>
        <p:sp>
          <p:nvSpPr>
            <p:cNvPr id="82" name="矩形 81"/>
            <p:cNvSpPr/>
            <p:nvPr/>
          </p:nvSpPr>
          <p:spPr>
            <a:xfrm>
              <a:off x="8406937" y="4213927"/>
              <a:ext cx="3183775" cy="100929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文字方塊 86"/>
            <p:cNvSpPr txBox="1"/>
            <p:nvPr/>
          </p:nvSpPr>
          <p:spPr>
            <a:xfrm>
              <a:off x="8409782" y="4281161"/>
              <a:ext cx="3175678" cy="1645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 smtClean="0"/>
                <a:t>設定</a:t>
              </a:r>
              <a:r>
                <a:rPr lang="en-US" altLang="zh-TW" sz="1400" dirty="0" smtClean="0"/>
                <a:t>switch</a:t>
              </a:r>
              <a:r>
                <a:rPr lang="zh-TW" altLang="en-US" sz="1400" dirty="0" smtClean="0"/>
                <a:t>，並將燒好的 </a:t>
              </a:r>
              <a:r>
                <a:rPr lang="en-US" altLang="zh-TW" sz="1400" dirty="0" err="1" smtClean="0"/>
                <a:t>fw_config.bin</a:t>
              </a:r>
              <a:endParaRPr lang="en-US" altLang="zh-TW" sz="1400" dirty="0" smtClean="0"/>
            </a:p>
            <a:p>
              <a:pPr algn="ctr"/>
              <a:r>
                <a:rPr lang="zh-TW" altLang="en-US" sz="1400" dirty="0" smtClean="0"/>
                <a:t>放到</a:t>
              </a:r>
              <a:r>
                <a:rPr lang="en-US" altLang="zh-TW" sz="1400" dirty="0" smtClean="0"/>
                <a:t>cle_va_usb_210107</a:t>
              </a:r>
              <a:r>
                <a:rPr lang="zh-TW" altLang="en-US" sz="1400" dirty="0" smtClean="0"/>
                <a:t>資料夾下方</a:t>
              </a:r>
              <a:endParaRPr lang="en-US" altLang="zh-TW" sz="1400" dirty="0"/>
            </a:p>
            <a:p>
              <a:pPr algn="ctr"/>
              <a:endParaRPr lang="en-US" altLang="zh-TW" sz="1400" dirty="0"/>
            </a:p>
            <a:p>
              <a:pPr algn="ctr"/>
              <a:endParaRPr lang="zh-TW" altLang="en-US" dirty="0"/>
            </a:p>
          </p:txBody>
        </p:sp>
      </p:grpSp>
      <p:sp>
        <p:nvSpPr>
          <p:cNvPr id="88" name="矩形 87"/>
          <p:cNvSpPr/>
          <p:nvPr/>
        </p:nvSpPr>
        <p:spPr>
          <a:xfrm>
            <a:off x="8706486" y="4918877"/>
            <a:ext cx="3183775" cy="53828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文字方塊 88"/>
          <p:cNvSpPr txBox="1"/>
          <p:nvPr/>
        </p:nvSpPr>
        <p:spPr>
          <a:xfrm>
            <a:off x="8711737" y="5035255"/>
            <a:ext cx="3178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 smtClean="0"/>
              <a:t>執行</a:t>
            </a:r>
            <a:r>
              <a:rPr lang="en-US" altLang="zh-TW" sz="1400" dirty="0" smtClean="0"/>
              <a:t>control.py </a:t>
            </a:r>
            <a:endParaRPr lang="en-US" altLang="zh-TW" sz="1400" dirty="0"/>
          </a:p>
          <a:p>
            <a:pPr algn="ctr"/>
            <a:endParaRPr lang="zh-TW" altLang="en-US" dirty="0"/>
          </a:p>
        </p:txBody>
      </p:sp>
      <p:grpSp>
        <p:nvGrpSpPr>
          <p:cNvPr id="17" name="群組 16"/>
          <p:cNvGrpSpPr/>
          <p:nvPr/>
        </p:nvGrpSpPr>
        <p:grpSpPr>
          <a:xfrm>
            <a:off x="181542" y="755034"/>
            <a:ext cx="6444296" cy="311072"/>
            <a:chOff x="189855" y="755034"/>
            <a:chExt cx="6444296" cy="311072"/>
          </a:xfrm>
        </p:grpSpPr>
        <p:sp>
          <p:nvSpPr>
            <p:cNvPr id="102" name="矩形 101"/>
            <p:cNvSpPr/>
            <p:nvPr/>
          </p:nvSpPr>
          <p:spPr>
            <a:xfrm>
              <a:off x="189855" y="756196"/>
              <a:ext cx="6428706" cy="3099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3" name="文字方塊 102"/>
            <p:cNvSpPr txBox="1"/>
            <p:nvPr/>
          </p:nvSpPr>
          <p:spPr>
            <a:xfrm>
              <a:off x="254334" y="755034"/>
              <a:ext cx="63798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/>
                <a:t>control.py </a:t>
              </a:r>
              <a:r>
                <a:rPr lang="zh-TW" altLang="en-US" sz="1400" dirty="0" smtClean="0"/>
                <a:t>遠端呼叫</a:t>
              </a:r>
              <a:r>
                <a:rPr lang="en-US" altLang="zh-TW" sz="1400" dirty="0" smtClean="0"/>
                <a:t>main.sh</a:t>
              </a:r>
              <a:endParaRPr lang="en-US" altLang="zh-TW" sz="1400" dirty="0"/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189855" y="1269262"/>
            <a:ext cx="6434773" cy="312004"/>
            <a:chOff x="189855" y="1169924"/>
            <a:chExt cx="6434773" cy="312004"/>
          </a:xfrm>
        </p:grpSpPr>
        <p:sp>
          <p:nvSpPr>
            <p:cNvPr id="160" name="矩形 159"/>
            <p:cNvSpPr/>
            <p:nvPr/>
          </p:nvSpPr>
          <p:spPr>
            <a:xfrm>
              <a:off x="189855" y="1169924"/>
              <a:ext cx="6428706" cy="3099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6" name="文字方塊 135"/>
            <p:cNvSpPr txBox="1"/>
            <p:nvPr/>
          </p:nvSpPr>
          <p:spPr>
            <a:xfrm>
              <a:off x="254334" y="1174151"/>
              <a:ext cx="63702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/>
                <a:t>按照</a:t>
              </a:r>
              <a:r>
                <a:rPr lang="en-US" altLang="zh-TW" sz="1400" dirty="0"/>
                <a:t>main.sh</a:t>
              </a:r>
              <a:r>
                <a:rPr lang="zh-TW" altLang="en-US" sz="1400" dirty="0"/>
                <a:t>重新設定後的</a:t>
              </a:r>
              <a:r>
                <a:rPr lang="zh-TW" altLang="en-US" sz="1400" dirty="0" smtClean="0"/>
                <a:t>資訊呼叫</a:t>
              </a:r>
              <a:r>
                <a:rPr lang="en-US" altLang="zh-TW" sz="1400" dirty="0" smtClean="0"/>
                <a:t>ping_test.sh</a:t>
              </a:r>
              <a:endParaRPr lang="en-US" altLang="zh-TW" sz="1400" dirty="0"/>
            </a:p>
          </p:txBody>
        </p:sp>
      </p:grpSp>
      <p:cxnSp>
        <p:nvCxnSpPr>
          <p:cNvPr id="192" name="直線單箭頭接點 191"/>
          <p:cNvCxnSpPr>
            <a:endCxn id="61" idx="0"/>
          </p:cNvCxnSpPr>
          <p:nvPr/>
        </p:nvCxnSpPr>
        <p:spPr>
          <a:xfrm>
            <a:off x="4156364" y="5879300"/>
            <a:ext cx="13600" cy="189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群組 19"/>
          <p:cNvGrpSpPr/>
          <p:nvPr/>
        </p:nvGrpSpPr>
        <p:grpSpPr>
          <a:xfrm>
            <a:off x="192998" y="1784422"/>
            <a:ext cx="6430890" cy="324253"/>
            <a:chOff x="192998" y="1579385"/>
            <a:chExt cx="6430890" cy="324253"/>
          </a:xfrm>
        </p:grpSpPr>
        <p:grpSp>
          <p:nvGrpSpPr>
            <p:cNvPr id="4" name="群組 3"/>
            <p:cNvGrpSpPr/>
            <p:nvPr/>
          </p:nvGrpSpPr>
          <p:grpSpPr>
            <a:xfrm>
              <a:off x="192998" y="1579385"/>
              <a:ext cx="6420472" cy="324253"/>
              <a:chOff x="192998" y="1579385"/>
              <a:chExt cx="6420472" cy="324253"/>
            </a:xfrm>
          </p:grpSpPr>
          <p:sp>
            <p:nvSpPr>
              <p:cNvPr id="166" name="矩形 165"/>
              <p:cNvSpPr/>
              <p:nvPr/>
            </p:nvSpPr>
            <p:spPr>
              <a:xfrm>
                <a:off x="192998" y="1581653"/>
                <a:ext cx="3107158" cy="32198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3506312" y="1579385"/>
                <a:ext cx="3107158" cy="32198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07" name="文字方塊 106"/>
            <p:cNvSpPr txBox="1"/>
            <p:nvPr/>
          </p:nvSpPr>
          <p:spPr>
            <a:xfrm>
              <a:off x="254333" y="1586523"/>
              <a:ext cx="30562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/>
                <a:t>直接</a:t>
              </a:r>
              <a:r>
                <a:rPr lang="zh-TW" altLang="en-US" sz="1400" dirty="0" smtClean="0"/>
                <a:t>執行</a:t>
              </a:r>
              <a:r>
                <a:rPr lang="en-US" altLang="zh-TW" sz="1400" dirty="0" smtClean="0"/>
                <a:t>IPv4 address</a:t>
              </a:r>
              <a:r>
                <a:rPr lang="zh-TW" altLang="en-US" sz="1400" dirty="0" smtClean="0"/>
                <a:t>的互</a:t>
              </a:r>
              <a:r>
                <a:rPr lang="en-US" altLang="zh-TW" sz="1400" dirty="0" smtClean="0"/>
                <a:t>ping</a:t>
              </a:r>
              <a:endParaRPr lang="en-US" altLang="zh-TW" sz="1400" dirty="0"/>
            </a:p>
          </p:txBody>
        </p:sp>
        <p:sp>
          <p:nvSpPr>
            <p:cNvPr id="84" name="文字方塊 83"/>
            <p:cNvSpPr txBox="1"/>
            <p:nvPr/>
          </p:nvSpPr>
          <p:spPr>
            <a:xfrm>
              <a:off x="3639171" y="1584255"/>
              <a:ext cx="29847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/>
                <a:t>直接</a:t>
              </a:r>
              <a:r>
                <a:rPr lang="zh-TW" altLang="en-US" sz="1400" dirty="0" smtClean="0"/>
                <a:t>執行</a:t>
              </a:r>
              <a:r>
                <a:rPr lang="en-US" altLang="zh-TW" sz="1400" dirty="0" smtClean="0"/>
                <a:t>IPv4 address</a:t>
              </a:r>
              <a:r>
                <a:rPr lang="zh-TW" altLang="en-US" sz="1400" dirty="0" smtClean="0"/>
                <a:t>的互</a:t>
              </a:r>
              <a:r>
                <a:rPr lang="en-US" altLang="zh-TW" sz="1400" dirty="0" smtClean="0"/>
                <a:t>ping</a:t>
              </a:r>
              <a:endParaRPr lang="en-US" altLang="zh-TW" sz="1400" dirty="0"/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186674" y="2311831"/>
            <a:ext cx="6437214" cy="322990"/>
            <a:chOff x="186674" y="1974836"/>
            <a:chExt cx="6437214" cy="322990"/>
          </a:xfrm>
        </p:grpSpPr>
        <p:grpSp>
          <p:nvGrpSpPr>
            <p:cNvPr id="11" name="群組 10"/>
            <p:cNvGrpSpPr/>
            <p:nvPr/>
          </p:nvGrpSpPr>
          <p:grpSpPr>
            <a:xfrm>
              <a:off x="186674" y="1974836"/>
              <a:ext cx="6426796" cy="321985"/>
              <a:chOff x="186674" y="1974836"/>
              <a:chExt cx="6426796" cy="321985"/>
            </a:xfrm>
          </p:grpSpPr>
          <p:sp>
            <p:nvSpPr>
              <p:cNvPr id="78" name="矩形 77"/>
              <p:cNvSpPr/>
              <p:nvPr/>
            </p:nvSpPr>
            <p:spPr>
              <a:xfrm>
                <a:off x="186674" y="1974836"/>
                <a:ext cx="1442866" cy="32198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9" name="矩形 78"/>
              <p:cNvSpPr/>
              <p:nvPr/>
            </p:nvSpPr>
            <p:spPr>
              <a:xfrm>
                <a:off x="1847984" y="1974836"/>
                <a:ext cx="1442866" cy="32198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5170604" y="1974836"/>
                <a:ext cx="1442866" cy="32198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3509294" y="1974836"/>
                <a:ext cx="1442866" cy="32198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66" name="文字方塊 65"/>
            <p:cNvSpPr txBox="1"/>
            <p:nvPr/>
          </p:nvSpPr>
          <p:spPr>
            <a:xfrm>
              <a:off x="254333" y="1984432"/>
              <a:ext cx="13752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/>
                <a:t>n</a:t>
              </a:r>
              <a:r>
                <a:rPr lang="en-US" altLang="zh-TW" sz="1400" dirty="0" smtClean="0"/>
                <a:t>et0 -&gt; net1</a:t>
              </a:r>
              <a:endParaRPr lang="en-US" altLang="zh-TW" sz="1400" dirty="0"/>
            </a:p>
          </p:txBody>
        </p:sp>
        <p:sp>
          <p:nvSpPr>
            <p:cNvPr id="92" name="文字方塊 91"/>
            <p:cNvSpPr txBox="1"/>
            <p:nvPr/>
          </p:nvSpPr>
          <p:spPr>
            <a:xfrm>
              <a:off x="1907218" y="1987929"/>
              <a:ext cx="13836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 smtClean="0"/>
                <a:t>net1 -&gt; net0</a:t>
              </a:r>
              <a:endParaRPr lang="en-US" altLang="zh-TW" sz="1400" dirty="0"/>
            </a:p>
          </p:txBody>
        </p:sp>
        <p:sp>
          <p:nvSpPr>
            <p:cNvPr id="93" name="文字方塊 92"/>
            <p:cNvSpPr txBox="1"/>
            <p:nvPr/>
          </p:nvSpPr>
          <p:spPr>
            <a:xfrm>
              <a:off x="3566160" y="1990049"/>
              <a:ext cx="13859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/>
                <a:t>n</a:t>
              </a:r>
              <a:r>
                <a:rPr lang="en-US" altLang="zh-TW" sz="1400" dirty="0" smtClean="0"/>
                <a:t>et0 -&gt; net1</a:t>
              </a:r>
              <a:endParaRPr lang="en-US" altLang="zh-TW" sz="1400" dirty="0"/>
            </a:p>
          </p:txBody>
        </p:sp>
        <p:sp>
          <p:nvSpPr>
            <p:cNvPr id="95" name="文字方塊 94"/>
            <p:cNvSpPr txBox="1"/>
            <p:nvPr/>
          </p:nvSpPr>
          <p:spPr>
            <a:xfrm>
              <a:off x="5227469" y="1985184"/>
              <a:ext cx="13964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 smtClean="0"/>
                <a:t>net1 -&gt; net0</a:t>
              </a:r>
              <a:endParaRPr lang="en-US" altLang="zh-TW" sz="1400" dirty="0"/>
            </a:p>
          </p:txBody>
        </p:sp>
      </p:grpSp>
      <p:grpSp>
        <p:nvGrpSpPr>
          <p:cNvPr id="96" name="群組 95"/>
          <p:cNvGrpSpPr/>
          <p:nvPr/>
        </p:nvGrpSpPr>
        <p:grpSpPr>
          <a:xfrm>
            <a:off x="185600" y="2837977"/>
            <a:ext cx="6426797" cy="321985"/>
            <a:chOff x="186673" y="1974836"/>
            <a:chExt cx="6426797" cy="321985"/>
          </a:xfrm>
        </p:grpSpPr>
        <p:grpSp>
          <p:nvGrpSpPr>
            <p:cNvPr id="97" name="群組 96"/>
            <p:cNvGrpSpPr/>
            <p:nvPr/>
          </p:nvGrpSpPr>
          <p:grpSpPr>
            <a:xfrm>
              <a:off x="186674" y="1974836"/>
              <a:ext cx="6426796" cy="321985"/>
              <a:chOff x="186674" y="1974836"/>
              <a:chExt cx="6426796" cy="321985"/>
            </a:xfrm>
          </p:grpSpPr>
          <p:sp>
            <p:nvSpPr>
              <p:cNvPr id="104" name="矩形 103"/>
              <p:cNvSpPr/>
              <p:nvPr/>
            </p:nvSpPr>
            <p:spPr>
              <a:xfrm>
                <a:off x="186674" y="1974836"/>
                <a:ext cx="1442866" cy="32198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5" name="矩形 104"/>
              <p:cNvSpPr/>
              <p:nvPr/>
            </p:nvSpPr>
            <p:spPr>
              <a:xfrm>
                <a:off x="1847984" y="1974836"/>
                <a:ext cx="1442866" cy="32198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6" name="矩形 105"/>
              <p:cNvSpPr/>
              <p:nvPr/>
            </p:nvSpPr>
            <p:spPr>
              <a:xfrm>
                <a:off x="5170604" y="1974836"/>
                <a:ext cx="1442866" cy="32198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8" name="矩形 107"/>
              <p:cNvSpPr/>
              <p:nvPr/>
            </p:nvSpPr>
            <p:spPr>
              <a:xfrm>
                <a:off x="3509294" y="1974836"/>
                <a:ext cx="1442866" cy="32198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98" name="文字方塊 97"/>
            <p:cNvSpPr txBox="1"/>
            <p:nvPr/>
          </p:nvSpPr>
          <p:spPr>
            <a:xfrm>
              <a:off x="186673" y="2009371"/>
              <a:ext cx="144286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100" dirty="0" smtClean="0"/>
                <a:t>結果輸出到</a:t>
              </a:r>
              <a:r>
                <a:rPr lang="en-US" altLang="zh-TW" sz="1100" dirty="0" smtClean="0"/>
                <a:t>Ping1.txt</a:t>
              </a:r>
              <a:endParaRPr lang="en-US" altLang="zh-TW" sz="1100" dirty="0"/>
            </a:p>
          </p:txBody>
        </p:sp>
      </p:grpSp>
      <p:grpSp>
        <p:nvGrpSpPr>
          <p:cNvPr id="15" name="群組 14"/>
          <p:cNvGrpSpPr/>
          <p:nvPr/>
        </p:nvGrpSpPr>
        <p:grpSpPr>
          <a:xfrm>
            <a:off x="192998" y="3363125"/>
            <a:ext cx="6434773" cy="524343"/>
            <a:chOff x="192998" y="2859661"/>
            <a:chExt cx="6434773" cy="357324"/>
          </a:xfrm>
        </p:grpSpPr>
        <p:sp>
          <p:nvSpPr>
            <p:cNvPr id="115" name="矩形 114"/>
            <p:cNvSpPr/>
            <p:nvPr/>
          </p:nvSpPr>
          <p:spPr>
            <a:xfrm>
              <a:off x="192998" y="2859661"/>
              <a:ext cx="6428706" cy="3099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6" name="文字方塊 115"/>
            <p:cNvSpPr txBox="1"/>
            <p:nvPr/>
          </p:nvSpPr>
          <p:spPr>
            <a:xfrm>
              <a:off x="254333" y="2909208"/>
              <a:ext cx="63734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 smtClean="0"/>
                <a:t>透過抓取各</a:t>
              </a:r>
              <a:r>
                <a:rPr lang="en-US" altLang="zh-TW" sz="1400" dirty="0" smtClean="0"/>
                <a:t>txt</a:t>
              </a:r>
              <a:r>
                <a:rPr lang="zh-TW" altLang="en-US" sz="1400" dirty="0" smtClean="0"/>
                <a:t>中的字串判斷</a:t>
              </a:r>
              <a:r>
                <a:rPr lang="en-US" altLang="zh-TW" sz="1400" dirty="0" smtClean="0"/>
                <a:t>Ping</a:t>
              </a:r>
              <a:r>
                <a:rPr lang="zh-TW" altLang="en-US" sz="1400" dirty="0" smtClean="0"/>
                <a:t>的結果</a:t>
              </a:r>
              <a:endParaRPr lang="en-US" altLang="zh-TW" sz="1400" dirty="0"/>
            </a:p>
          </p:txBody>
        </p:sp>
      </p:grpSp>
      <p:sp>
        <p:nvSpPr>
          <p:cNvPr id="117" name="文字方塊 116"/>
          <p:cNvSpPr txBox="1"/>
          <p:nvPr/>
        </p:nvSpPr>
        <p:spPr>
          <a:xfrm>
            <a:off x="1836671" y="2862998"/>
            <a:ext cx="14324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100" dirty="0" smtClean="0"/>
              <a:t>結果輸出到</a:t>
            </a:r>
            <a:r>
              <a:rPr lang="en-US" altLang="zh-TW" sz="1100" dirty="0" smtClean="0"/>
              <a:t>Ping2.txt</a:t>
            </a:r>
            <a:endParaRPr lang="en-US" altLang="zh-TW" sz="1100" dirty="0"/>
          </a:p>
        </p:txBody>
      </p:sp>
      <p:sp>
        <p:nvSpPr>
          <p:cNvPr id="118" name="文字方塊 117"/>
          <p:cNvSpPr txBox="1"/>
          <p:nvPr/>
        </p:nvSpPr>
        <p:spPr>
          <a:xfrm>
            <a:off x="3511563" y="2862998"/>
            <a:ext cx="1439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100" dirty="0" smtClean="0"/>
              <a:t>結果輸出到</a:t>
            </a:r>
            <a:r>
              <a:rPr lang="en-US" altLang="zh-TW" sz="1100" dirty="0" smtClean="0"/>
              <a:t>Ping3.txt</a:t>
            </a:r>
            <a:endParaRPr lang="en-US" altLang="zh-TW" sz="1100" dirty="0"/>
          </a:p>
        </p:txBody>
      </p:sp>
      <p:sp>
        <p:nvSpPr>
          <p:cNvPr id="119" name="文字方塊 118"/>
          <p:cNvSpPr txBox="1"/>
          <p:nvPr/>
        </p:nvSpPr>
        <p:spPr>
          <a:xfrm>
            <a:off x="5169529" y="2872788"/>
            <a:ext cx="14365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100" dirty="0" smtClean="0"/>
              <a:t>結果輸出到</a:t>
            </a:r>
            <a:r>
              <a:rPr lang="en-US" altLang="zh-TW" sz="1100" dirty="0" smtClean="0"/>
              <a:t>Ping4.txt</a:t>
            </a:r>
            <a:endParaRPr lang="en-US" altLang="zh-TW" sz="1100" dirty="0"/>
          </a:p>
        </p:txBody>
      </p:sp>
      <p:grpSp>
        <p:nvGrpSpPr>
          <p:cNvPr id="13" name="群組 12"/>
          <p:cNvGrpSpPr/>
          <p:nvPr/>
        </p:nvGrpSpPr>
        <p:grpSpPr>
          <a:xfrm>
            <a:off x="91263" y="3994318"/>
            <a:ext cx="6812924" cy="1073634"/>
            <a:chOff x="91263" y="4297836"/>
            <a:chExt cx="6812924" cy="831933"/>
          </a:xfrm>
        </p:grpSpPr>
        <p:sp>
          <p:nvSpPr>
            <p:cNvPr id="112" name="矩形 111"/>
            <p:cNvSpPr/>
            <p:nvPr/>
          </p:nvSpPr>
          <p:spPr>
            <a:xfrm>
              <a:off x="192998" y="4303333"/>
              <a:ext cx="2067983" cy="8064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0" name="文字方塊 119"/>
            <p:cNvSpPr txBox="1"/>
            <p:nvPr/>
          </p:nvSpPr>
          <p:spPr>
            <a:xfrm>
              <a:off x="91263" y="4427836"/>
              <a:ext cx="2287024" cy="5008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200" dirty="0" smtClean="0"/>
                <a:t>若</a:t>
              </a:r>
              <a:r>
                <a:rPr lang="en-US" altLang="zh-TW" sz="1200" dirty="0" smtClean="0"/>
                <a:t>ipv4</a:t>
              </a:r>
              <a:r>
                <a:rPr lang="zh-TW" altLang="en-US" sz="1200" dirty="0" smtClean="0"/>
                <a:t>組輸出結果</a:t>
              </a:r>
              <a:endParaRPr lang="en-US" altLang="zh-TW" sz="1200" dirty="0" smtClean="0"/>
            </a:p>
            <a:p>
              <a:pPr algn="ctr"/>
              <a:r>
                <a:rPr lang="zh-TW" altLang="en-US" sz="1200" dirty="0" smtClean="0"/>
                <a:t>符合</a:t>
              </a:r>
              <a:r>
                <a:rPr lang="en-US" altLang="zh-TW" sz="1200" dirty="0" smtClean="0"/>
                <a:t>ping</a:t>
              </a:r>
              <a:r>
                <a:rPr lang="zh-TW" altLang="en-US" sz="1200" dirty="0" smtClean="0"/>
                <a:t>成功的形式</a:t>
              </a:r>
              <a:endParaRPr lang="en-US" altLang="zh-TW" sz="1200" dirty="0" smtClean="0"/>
            </a:p>
            <a:p>
              <a:pPr algn="ctr"/>
              <a:r>
                <a:rPr lang="zh-TW" altLang="en-US" sz="1200" dirty="0"/>
                <a:t>則輸出</a:t>
              </a:r>
              <a:r>
                <a:rPr lang="zh-TW" altLang="en-US" sz="1200" dirty="0" smtClean="0"/>
                <a:t>到</a:t>
              </a:r>
              <a:r>
                <a:rPr lang="en-US" altLang="zh-TW" sz="1200" dirty="0" smtClean="0"/>
                <a:t>ipv4_ping_success.txt</a:t>
              </a:r>
              <a:endParaRPr lang="en-US" altLang="zh-TW" sz="1200" dirty="0"/>
            </a:p>
          </p:txBody>
        </p:sp>
        <p:sp>
          <p:nvSpPr>
            <p:cNvPr id="123" name="矩形 122"/>
            <p:cNvSpPr/>
            <p:nvPr/>
          </p:nvSpPr>
          <p:spPr>
            <a:xfrm>
              <a:off x="2306025" y="4297836"/>
              <a:ext cx="2197710" cy="8064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4" name="矩形 123"/>
            <p:cNvSpPr/>
            <p:nvPr/>
          </p:nvSpPr>
          <p:spPr>
            <a:xfrm>
              <a:off x="4548780" y="4297836"/>
              <a:ext cx="2064689" cy="8064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5" name="文字方塊 124"/>
            <p:cNvSpPr txBox="1"/>
            <p:nvPr/>
          </p:nvSpPr>
          <p:spPr>
            <a:xfrm>
              <a:off x="4267561" y="4412845"/>
              <a:ext cx="2636626" cy="5008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200" dirty="0" smtClean="0"/>
                <a:t>若</a:t>
              </a:r>
              <a:r>
                <a:rPr lang="en-US" altLang="zh-TW" sz="1200" dirty="0" smtClean="0"/>
                <a:t>ipv6</a:t>
              </a:r>
              <a:r>
                <a:rPr lang="zh-TW" altLang="en-US" sz="1200" dirty="0" smtClean="0"/>
                <a:t>組輸出結果</a:t>
              </a:r>
              <a:endParaRPr lang="en-US" altLang="zh-TW" sz="1200" dirty="0" smtClean="0"/>
            </a:p>
            <a:p>
              <a:pPr algn="ctr"/>
              <a:r>
                <a:rPr lang="zh-TW" altLang="en-US" sz="1200" dirty="0" smtClean="0"/>
                <a:t>符合</a:t>
              </a:r>
              <a:r>
                <a:rPr lang="en-US" altLang="zh-TW" sz="1200" dirty="0" smtClean="0"/>
                <a:t>ping</a:t>
              </a:r>
              <a:r>
                <a:rPr lang="zh-TW" altLang="en-US" sz="1200" dirty="0" smtClean="0"/>
                <a:t>成功的形式</a:t>
              </a:r>
              <a:endParaRPr lang="en-US" altLang="zh-TW" sz="1200" dirty="0" smtClean="0"/>
            </a:p>
            <a:p>
              <a:pPr algn="ctr"/>
              <a:r>
                <a:rPr lang="zh-TW" altLang="en-US" sz="1200" dirty="0"/>
                <a:t>則輸出</a:t>
              </a:r>
              <a:r>
                <a:rPr lang="zh-TW" altLang="en-US" sz="1200" dirty="0" smtClean="0"/>
                <a:t>到</a:t>
              </a:r>
              <a:r>
                <a:rPr lang="en-US" altLang="zh-TW" sz="1200" dirty="0" smtClean="0"/>
                <a:t>ipv6_ping_success.txt</a:t>
              </a:r>
              <a:endParaRPr lang="en-US" altLang="zh-TW" sz="1200" dirty="0"/>
            </a:p>
          </p:txBody>
        </p:sp>
        <p:sp>
          <p:nvSpPr>
            <p:cNvPr id="126" name="文字方塊 125"/>
            <p:cNvSpPr txBox="1"/>
            <p:nvPr/>
          </p:nvSpPr>
          <p:spPr>
            <a:xfrm>
              <a:off x="2070317" y="4372568"/>
              <a:ext cx="2667777" cy="7572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150" dirty="0" smtClean="0"/>
                <a:t>若出現</a:t>
              </a:r>
              <a:endParaRPr lang="en-US" altLang="zh-TW" sz="1150" dirty="0" smtClean="0"/>
            </a:p>
            <a:p>
              <a:pPr algn="ctr"/>
              <a:r>
                <a:rPr lang="en-US" altLang="zh-TW" sz="1150" dirty="0" smtClean="0"/>
                <a:t>Destination Host Unreachable</a:t>
              </a:r>
            </a:p>
            <a:p>
              <a:pPr algn="ctr"/>
              <a:r>
                <a:rPr lang="zh-TW" altLang="en-US" sz="1150" dirty="0" smtClean="0"/>
                <a:t>則將該行輸出到</a:t>
              </a:r>
              <a:endParaRPr lang="en-US" altLang="zh-TW" sz="1150" dirty="0" smtClean="0"/>
            </a:p>
            <a:p>
              <a:pPr algn="ctr"/>
              <a:r>
                <a:rPr lang="en-US" altLang="zh-TW" sz="1150" dirty="0" smtClean="0"/>
                <a:t>Destination_Host_Unreachable.txt</a:t>
              </a:r>
              <a:endParaRPr lang="en-US" altLang="zh-TW" sz="1150" dirty="0"/>
            </a:p>
            <a:p>
              <a:pPr algn="ctr"/>
              <a:endParaRPr lang="en-US" altLang="zh-TW" sz="1150" dirty="0"/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73064" y="5248223"/>
            <a:ext cx="6662285" cy="591862"/>
            <a:chOff x="73064" y="5307073"/>
            <a:chExt cx="6662285" cy="591862"/>
          </a:xfrm>
        </p:grpSpPr>
        <p:sp>
          <p:nvSpPr>
            <p:cNvPr id="175" name="矩形 174"/>
            <p:cNvSpPr/>
            <p:nvPr/>
          </p:nvSpPr>
          <p:spPr>
            <a:xfrm>
              <a:off x="189855" y="5307073"/>
              <a:ext cx="6428706" cy="59186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4" name="文字方塊 173"/>
            <p:cNvSpPr txBox="1"/>
            <p:nvPr/>
          </p:nvSpPr>
          <p:spPr>
            <a:xfrm>
              <a:off x="73064" y="5342201"/>
              <a:ext cx="666228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/>
                <a:t>透過</a:t>
              </a:r>
              <a:r>
                <a:rPr lang="en-US" altLang="zh-TW" sz="1400" dirty="0" smtClean="0"/>
                <a:t>ipv4_ping_success.txt</a:t>
              </a:r>
              <a:r>
                <a:rPr lang="zh-TW" altLang="en-US" sz="1400" dirty="0" smtClean="0"/>
                <a:t>、</a:t>
              </a:r>
              <a:r>
                <a:rPr lang="en-US" altLang="zh-TW" sz="1400" dirty="0" smtClean="0"/>
                <a:t>ipv6_ping_success.txt</a:t>
              </a:r>
              <a:r>
                <a:rPr lang="zh-TW" altLang="en-US" sz="1400" dirty="0"/>
                <a:t>、</a:t>
              </a:r>
              <a:r>
                <a:rPr lang="en-US" altLang="zh-TW" sz="1400" dirty="0" smtClean="0"/>
                <a:t>Destination_Host_Unreachable.txt</a:t>
              </a:r>
            </a:p>
            <a:p>
              <a:pPr algn="ctr"/>
              <a:r>
                <a:rPr lang="zh-TW" altLang="en-US" sz="1400" dirty="0" smtClean="0"/>
                <a:t>是否為空，來修改</a:t>
              </a:r>
              <a:r>
                <a:rPr lang="en-US" altLang="zh-TW" sz="1400" dirty="0" smtClean="0"/>
                <a:t>flag</a:t>
              </a:r>
              <a:r>
                <a:rPr lang="zh-TW" altLang="en-US" sz="1400" dirty="0" smtClean="0"/>
                <a:t>值，最終依照</a:t>
              </a:r>
              <a:r>
                <a:rPr lang="en-US" altLang="zh-TW" sz="1400" dirty="0" smtClean="0"/>
                <a:t>flag</a:t>
              </a:r>
              <a:r>
                <a:rPr lang="zh-TW" altLang="en-US" sz="1400" dirty="0" smtClean="0"/>
                <a:t>的值判斷是否</a:t>
              </a:r>
              <a:r>
                <a:rPr lang="en-US" altLang="zh-TW" sz="1400" dirty="0" smtClean="0"/>
                <a:t>ping</a:t>
              </a:r>
              <a:r>
                <a:rPr lang="zh-TW" altLang="en-US" sz="1400" dirty="0" smtClean="0"/>
                <a:t>成功。</a:t>
              </a:r>
              <a:endParaRPr lang="en-US" altLang="zh-TW" sz="1400" dirty="0" smtClean="0"/>
            </a:p>
          </p:txBody>
        </p:sp>
      </p:grpSp>
      <p:cxnSp>
        <p:nvCxnSpPr>
          <p:cNvPr id="40" name="直線單箭頭接點 39"/>
          <p:cNvCxnSpPr>
            <a:stCxn id="103" idx="2"/>
            <a:endCxn id="136" idx="0"/>
          </p:cNvCxnSpPr>
          <p:nvPr/>
        </p:nvCxnSpPr>
        <p:spPr>
          <a:xfrm>
            <a:off x="3435930" y="1062811"/>
            <a:ext cx="3551" cy="210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單箭頭接點 144"/>
          <p:cNvCxnSpPr/>
          <p:nvPr/>
        </p:nvCxnSpPr>
        <p:spPr>
          <a:xfrm>
            <a:off x="1721367" y="1579172"/>
            <a:ext cx="0" cy="205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單箭頭接點 146"/>
          <p:cNvCxnSpPr/>
          <p:nvPr/>
        </p:nvCxnSpPr>
        <p:spPr>
          <a:xfrm>
            <a:off x="5040912" y="1590255"/>
            <a:ext cx="0" cy="205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單箭頭接點 147"/>
          <p:cNvCxnSpPr/>
          <p:nvPr/>
        </p:nvCxnSpPr>
        <p:spPr>
          <a:xfrm>
            <a:off x="5874956" y="2100103"/>
            <a:ext cx="0" cy="205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單箭頭接點 148"/>
          <p:cNvCxnSpPr/>
          <p:nvPr/>
        </p:nvCxnSpPr>
        <p:spPr>
          <a:xfrm>
            <a:off x="4206872" y="2094561"/>
            <a:ext cx="0" cy="205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單箭頭接點 150"/>
          <p:cNvCxnSpPr/>
          <p:nvPr/>
        </p:nvCxnSpPr>
        <p:spPr>
          <a:xfrm>
            <a:off x="2588663" y="2097333"/>
            <a:ext cx="0" cy="205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單箭頭接點 152"/>
          <p:cNvCxnSpPr/>
          <p:nvPr/>
        </p:nvCxnSpPr>
        <p:spPr>
          <a:xfrm>
            <a:off x="912263" y="2108417"/>
            <a:ext cx="0" cy="205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單箭頭接點 155"/>
          <p:cNvCxnSpPr/>
          <p:nvPr/>
        </p:nvCxnSpPr>
        <p:spPr>
          <a:xfrm>
            <a:off x="931660" y="2634888"/>
            <a:ext cx="0" cy="205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單箭頭接點 156"/>
          <p:cNvCxnSpPr/>
          <p:nvPr/>
        </p:nvCxnSpPr>
        <p:spPr>
          <a:xfrm>
            <a:off x="2613600" y="2612721"/>
            <a:ext cx="0" cy="205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單箭頭接點 158"/>
          <p:cNvCxnSpPr/>
          <p:nvPr/>
        </p:nvCxnSpPr>
        <p:spPr>
          <a:xfrm>
            <a:off x="4229037" y="2623804"/>
            <a:ext cx="0" cy="205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線單箭頭接點 176"/>
          <p:cNvCxnSpPr/>
          <p:nvPr/>
        </p:nvCxnSpPr>
        <p:spPr>
          <a:xfrm>
            <a:off x="5919293" y="2618263"/>
            <a:ext cx="0" cy="205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線單箭頭接點 178"/>
          <p:cNvCxnSpPr/>
          <p:nvPr/>
        </p:nvCxnSpPr>
        <p:spPr>
          <a:xfrm>
            <a:off x="934439" y="3169671"/>
            <a:ext cx="0" cy="205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線單箭頭接點 180"/>
          <p:cNvCxnSpPr/>
          <p:nvPr/>
        </p:nvCxnSpPr>
        <p:spPr>
          <a:xfrm>
            <a:off x="2608064" y="3164132"/>
            <a:ext cx="0" cy="205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線單箭頭接點 182"/>
          <p:cNvCxnSpPr/>
          <p:nvPr/>
        </p:nvCxnSpPr>
        <p:spPr>
          <a:xfrm>
            <a:off x="4248439" y="3166903"/>
            <a:ext cx="0" cy="205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線單箭頭接點 184"/>
          <p:cNvCxnSpPr/>
          <p:nvPr/>
        </p:nvCxnSpPr>
        <p:spPr>
          <a:xfrm>
            <a:off x="5955320" y="3169674"/>
            <a:ext cx="0" cy="205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線單箭頭接點 186"/>
          <p:cNvCxnSpPr/>
          <p:nvPr/>
        </p:nvCxnSpPr>
        <p:spPr>
          <a:xfrm>
            <a:off x="5559080" y="3804212"/>
            <a:ext cx="0" cy="205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線單箭頭接點 188"/>
          <p:cNvCxnSpPr/>
          <p:nvPr/>
        </p:nvCxnSpPr>
        <p:spPr>
          <a:xfrm>
            <a:off x="3408854" y="3790358"/>
            <a:ext cx="0" cy="205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線單箭頭接點 190"/>
          <p:cNvCxnSpPr/>
          <p:nvPr/>
        </p:nvCxnSpPr>
        <p:spPr>
          <a:xfrm>
            <a:off x="1200445" y="3784816"/>
            <a:ext cx="0" cy="205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線單箭頭接點 192"/>
          <p:cNvCxnSpPr/>
          <p:nvPr/>
        </p:nvCxnSpPr>
        <p:spPr>
          <a:xfrm>
            <a:off x="3406087" y="5009559"/>
            <a:ext cx="0" cy="205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321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矩形 89"/>
          <p:cNvSpPr/>
          <p:nvPr/>
        </p:nvSpPr>
        <p:spPr>
          <a:xfrm>
            <a:off x="8520545" y="5879300"/>
            <a:ext cx="3566160" cy="8789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73065" y="83126"/>
            <a:ext cx="6662286" cy="66584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4" name="直線單箭頭接點 193"/>
          <p:cNvCxnSpPr/>
          <p:nvPr/>
        </p:nvCxnSpPr>
        <p:spPr>
          <a:xfrm>
            <a:off x="532013" y="1062811"/>
            <a:ext cx="0" cy="4980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矩形 163"/>
          <p:cNvSpPr/>
          <p:nvPr/>
        </p:nvSpPr>
        <p:spPr>
          <a:xfrm>
            <a:off x="219061" y="2828370"/>
            <a:ext cx="6370294" cy="19562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5" name="矩形 164"/>
          <p:cNvSpPr/>
          <p:nvPr/>
        </p:nvSpPr>
        <p:spPr>
          <a:xfrm>
            <a:off x="461503" y="3167283"/>
            <a:ext cx="5885411" cy="3099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1" name="矩形 160"/>
          <p:cNvSpPr/>
          <p:nvPr/>
        </p:nvSpPr>
        <p:spPr>
          <a:xfrm>
            <a:off x="186672" y="1583652"/>
            <a:ext cx="6431888" cy="3099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0" name="矩形 159"/>
          <p:cNvSpPr/>
          <p:nvPr/>
        </p:nvSpPr>
        <p:spPr>
          <a:xfrm>
            <a:off x="189855" y="1169924"/>
            <a:ext cx="6428706" cy="3099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8520545" y="108065"/>
            <a:ext cx="3566160" cy="558062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224444" y="224443"/>
            <a:ext cx="6394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Client (</a:t>
            </a:r>
            <a:r>
              <a:rPr lang="en-US" altLang="zh-TW" dirty="0" err="1" smtClean="0"/>
              <a:t>tsetcase</a:t>
            </a:r>
            <a:r>
              <a:rPr lang="en-US" altLang="zh-TW" dirty="0" smtClean="0"/>
              <a:t>: Mode 3:</a:t>
            </a:r>
            <a:r>
              <a:rPr lang="zh-TW" altLang="en-US" dirty="0"/>
              <a:t>在背景架設</a:t>
            </a:r>
            <a:r>
              <a:rPr lang="en-US" altLang="zh-TW" dirty="0" err="1"/>
              <a:t>tcp</a:t>
            </a:r>
            <a:r>
              <a:rPr lang="zh-TW" altLang="en-US" dirty="0"/>
              <a:t>並互</a:t>
            </a:r>
            <a:r>
              <a:rPr lang="en-US" altLang="zh-TW" dirty="0"/>
              <a:t>ping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8574578" y="224443"/>
            <a:ext cx="3029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Server (Control Panel)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8711738" y="1735307"/>
            <a:ext cx="3183775" cy="206345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8706485" y="1756310"/>
            <a:ext cx="318377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 smtClean="0"/>
              <a:t>設定</a:t>
            </a:r>
            <a:r>
              <a:rPr lang="en-US" altLang="zh-TW" sz="1400" dirty="0" smtClean="0"/>
              <a:t>ip_list.txt</a:t>
            </a:r>
          </a:p>
          <a:p>
            <a:r>
              <a:rPr lang="en-US" altLang="zh-TW" sz="1400" dirty="0" smtClean="0"/>
              <a:t>(</a:t>
            </a:r>
            <a:r>
              <a:rPr lang="zh-TW" altLang="en-US" sz="1400" dirty="0" smtClean="0"/>
              <a:t>兩張虛擬網卡的</a:t>
            </a:r>
            <a:r>
              <a:rPr lang="en-US" altLang="zh-TW" sz="1400" dirty="0" smtClean="0"/>
              <a:t>namespace</a:t>
            </a:r>
          </a:p>
          <a:p>
            <a:r>
              <a:rPr lang="en-US" altLang="zh-TW" sz="1400" dirty="0" smtClean="0"/>
              <a:t>name/vid/base/ipv4/mask4/gw4/ipv6/mask6/gw6/</a:t>
            </a:r>
            <a:r>
              <a:rPr lang="en-US" altLang="zh-TW" sz="1400" dirty="0" err="1" smtClean="0"/>
              <a:t>gw</a:t>
            </a:r>
            <a:r>
              <a:rPr lang="en-US" altLang="zh-TW" sz="1400" dirty="0" smtClean="0"/>
              <a:t> mac/mode)</a:t>
            </a:r>
          </a:p>
          <a:p>
            <a:endParaRPr lang="en-US" altLang="zh-TW" sz="1400" dirty="0" smtClean="0"/>
          </a:p>
          <a:p>
            <a:r>
              <a:rPr lang="en-US" altLang="zh-TW" sz="1200" dirty="0" smtClean="0"/>
              <a:t>mode 1: </a:t>
            </a:r>
            <a:r>
              <a:rPr lang="zh-TW" altLang="en-US" sz="1200" dirty="0" smtClean="0"/>
              <a:t>在背景</a:t>
            </a:r>
            <a:r>
              <a:rPr lang="en-US" altLang="zh-TW" sz="1200" dirty="0" smtClean="0"/>
              <a:t>ping</a:t>
            </a:r>
            <a:r>
              <a:rPr lang="zh-TW" altLang="en-US" sz="1200" dirty="0" smtClean="0"/>
              <a:t>並擷取封包進行比對</a:t>
            </a:r>
            <a:endParaRPr lang="en-US" altLang="zh-TW" sz="1200" dirty="0" smtClean="0"/>
          </a:p>
          <a:p>
            <a:r>
              <a:rPr lang="en-US" altLang="zh-TW" sz="1200" dirty="0" smtClean="0"/>
              <a:t>mode 2: </a:t>
            </a:r>
            <a:r>
              <a:rPr lang="zh-TW" altLang="en-US" sz="1200" dirty="0" smtClean="0"/>
              <a:t>直接</a:t>
            </a:r>
            <a:r>
              <a:rPr lang="en-US" altLang="zh-TW" sz="1200" dirty="0" smtClean="0"/>
              <a:t>ping</a:t>
            </a:r>
            <a:r>
              <a:rPr lang="zh-TW" altLang="en-US" sz="1200" dirty="0" smtClean="0"/>
              <a:t>並判斷螢幕輸出結果</a:t>
            </a:r>
            <a:endParaRPr lang="en-US" altLang="zh-TW" sz="1200" dirty="0" smtClean="0"/>
          </a:p>
          <a:p>
            <a:r>
              <a:rPr lang="en-US" altLang="zh-TW" sz="1200" dirty="0" smtClean="0"/>
              <a:t>mode 3: </a:t>
            </a:r>
            <a:r>
              <a:rPr lang="zh-TW" altLang="en-US" sz="1200" dirty="0"/>
              <a:t>在</a:t>
            </a:r>
            <a:r>
              <a:rPr lang="zh-TW" altLang="en-US" sz="1200" dirty="0" smtClean="0"/>
              <a:t>背景架設</a:t>
            </a:r>
            <a:r>
              <a:rPr lang="en-US" altLang="zh-TW" sz="1200" dirty="0" err="1" smtClean="0"/>
              <a:t>tcp</a:t>
            </a:r>
            <a:r>
              <a:rPr lang="zh-TW" altLang="en-US" sz="1200" dirty="0" smtClean="0"/>
              <a:t>並互</a:t>
            </a:r>
            <a:r>
              <a:rPr lang="en-US" altLang="zh-TW" sz="1200" dirty="0" smtClean="0"/>
              <a:t>ping</a:t>
            </a:r>
          </a:p>
          <a:p>
            <a:r>
              <a:rPr lang="en-US" altLang="zh-TW" sz="1200" dirty="0" smtClean="0"/>
              <a:t>Mode 4: exit</a:t>
            </a:r>
          </a:p>
          <a:p>
            <a:endParaRPr lang="en-US" altLang="zh-TW" sz="1400" dirty="0" smtClean="0"/>
          </a:p>
        </p:txBody>
      </p:sp>
      <p:sp>
        <p:nvSpPr>
          <p:cNvPr id="21" name="矩形 20"/>
          <p:cNvSpPr/>
          <p:nvPr/>
        </p:nvSpPr>
        <p:spPr>
          <a:xfrm>
            <a:off x="8711738" y="6013364"/>
            <a:ext cx="3183775" cy="6108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/>
          <p:cNvSpPr txBox="1"/>
          <p:nvPr/>
        </p:nvSpPr>
        <p:spPr>
          <a:xfrm>
            <a:off x="6929387" y="1198464"/>
            <a:ext cx="1695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 smtClean="0"/>
              <a:t>透過</a:t>
            </a:r>
            <a:r>
              <a:rPr lang="en-US" altLang="zh-TW" sz="1200" dirty="0" smtClean="0"/>
              <a:t>SSH</a:t>
            </a:r>
            <a:r>
              <a:rPr lang="zh-TW" altLang="en-US" sz="1200" dirty="0" smtClean="0"/>
              <a:t>連線至</a:t>
            </a:r>
            <a:r>
              <a:rPr lang="en-US" altLang="zh-TW" sz="1200" dirty="0" smtClean="0"/>
              <a:t>client</a:t>
            </a:r>
            <a:endParaRPr lang="zh-TW" altLang="en-US" sz="12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6753726" y="5994956"/>
            <a:ext cx="1695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 smtClean="0"/>
              <a:t>回傳</a:t>
            </a:r>
            <a:r>
              <a:rPr lang="en-US" altLang="zh-TW" sz="1600" dirty="0" smtClean="0"/>
              <a:t>control panel</a:t>
            </a:r>
            <a:endParaRPr lang="zh-TW" altLang="en-US" sz="1600" dirty="0"/>
          </a:p>
        </p:txBody>
      </p:sp>
      <p:grpSp>
        <p:nvGrpSpPr>
          <p:cNvPr id="56" name="群組 55"/>
          <p:cNvGrpSpPr/>
          <p:nvPr/>
        </p:nvGrpSpPr>
        <p:grpSpPr>
          <a:xfrm>
            <a:off x="156194" y="6043244"/>
            <a:ext cx="1502363" cy="573242"/>
            <a:chOff x="1286759" y="5164478"/>
            <a:chExt cx="2158261" cy="682716"/>
          </a:xfrm>
          <a:solidFill>
            <a:srgbClr val="92D050"/>
          </a:solidFill>
        </p:grpSpPr>
        <p:sp>
          <p:nvSpPr>
            <p:cNvPr id="57" name="矩形 56"/>
            <p:cNvSpPr/>
            <p:nvPr/>
          </p:nvSpPr>
          <p:spPr>
            <a:xfrm>
              <a:off x="1330546" y="5164478"/>
              <a:ext cx="1995054" cy="6827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1286759" y="5184279"/>
              <a:ext cx="2158261" cy="6597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TW" altLang="en-US" sz="1000" dirty="0" smtClean="0"/>
                <a:t>任何步驟出現系統錯誤後馬上輸出</a:t>
              </a:r>
              <a:r>
                <a:rPr lang="en-US" altLang="zh-TW" sz="1000" dirty="0" smtClean="0"/>
                <a:t>error.txt</a:t>
              </a:r>
            </a:p>
            <a:p>
              <a:r>
                <a:rPr lang="zh-TW" altLang="en-US" sz="1000" dirty="0" smtClean="0"/>
                <a:t>並繼續執行下一組測試</a:t>
              </a:r>
              <a:endParaRPr lang="zh-TW" altLang="en-US" sz="1000" dirty="0"/>
            </a:p>
          </p:txBody>
        </p:sp>
      </p:grpSp>
      <p:sp>
        <p:nvSpPr>
          <p:cNvPr id="60" name="矩形 59"/>
          <p:cNvSpPr/>
          <p:nvPr/>
        </p:nvSpPr>
        <p:spPr>
          <a:xfrm>
            <a:off x="1721367" y="6043244"/>
            <a:ext cx="4897193" cy="600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文字方塊 60"/>
          <p:cNvSpPr txBox="1"/>
          <p:nvPr/>
        </p:nvSpPr>
        <p:spPr>
          <a:xfrm>
            <a:off x="1721368" y="6068990"/>
            <a:ext cx="489719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300" dirty="0"/>
              <a:t>通過結果會顯示在</a:t>
            </a:r>
            <a:r>
              <a:rPr lang="en-US" altLang="zh-TW" sz="1300" dirty="0"/>
              <a:t>final_result.txt</a:t>
            </a:r>
            <a:r>
              <a:rPr lang="zh-TW" altLang="en-US" sz="1300" dirty="0"/>
              <a:t>中，包含第幾次、</a:t>
            </a:r>
            <a:r>
              <a:rPr lang="en-US" altLang="zh-TW" sz="1300" dirty="0"/>
              <a:t>mode</a:t>
            </a:r>
            <a:r>
              <a:rPr lang="zh-TW" altLang="en-US" sz="1300" dirty="0"/>
              <a:t>如何、以及通過的</a:t>
            </a:r>
            <a:r>
              <a:rPr lang="en-US" altLang="zh-TW" sz="1300" dirty="0"/>
              <a:t>%</a:t>
            </a:r>
            <a:r>
              <a:rPr lang="zh-TW" altLang="en-US" sz="1300" dirty="0" smtClean="0"/>
              <a:t>數。測試完也會回</a:t>
            </a:r>
            <a:r>
              <a:rPr lang="zh-TW" altLang="en-US" sz="1300" dirty="0"/>
              <a:t>傳到</a:t>
            </a:r>
            <a:r>
              <a:rPr lang="en-US" altLang="zh-TW" sz="1300" dirty="0"/>
              <a:t>control panel</a:t>
            </a:r>
            <a:r>
              <a:rPr lang="zh-TW" altLang="en-US" sz="1300" dirty="0"/>
              <a:t>的</a:t>
            </a:r>
            <a:r>
              <a:rPr lang="en-US" altLang="zh-TW" sz="1300" dirty="0" smtClean="0"/>
              <a:t>terminal</a:t>
            </a:r>
            <a:r>
              <a:rPr lang="zh-TW" altLang="en-US" sz="1300" dirty="0"/>
              <a:t>上</a:t>
            </a:r>
            <a:endParaRPr lang="en-US" altLang="zh-TW" sz="13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8711738" y="6057164"/>
            <a:ext cx="318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 smtClean="0"/>
              <a:t>control.py </a:t>
            </a:r>
            <a:r>
              <a:rPr lang="zh-TW" altLang="en-US" sz="1400" dirty="0" smtClean="0"/>
              <a:t>透過 </a:t>
            </a:r>
            <a:r>
              <a:rPr lang="en-US" altLang="zh-TW" sz="1400" dirty="0" smtClean="0"/>
              <a:t>SSH </a:t>
            </a:r>
            <a:r>
              <a:rPr lang="zh-TW" altLang="en-US" sz="1400" dirty="0" smtClean="0"/>
              <a:t>抓回</a:t>
            </a:r>
            <a:r>
              <a:rPr lang="en-US" altLang="zh-TW" sz="1400" dirty="0" smtClean="0"/>
              <a:t>final_result.txt</a:t>
            </a:r>
          </a:p>
          <a:p>
            <a:pPr algn="ctr"/>
            <a:r>
              <a:rPr lang="zh-TW" altLang="en-US" sz="1400" dirty="0" smtClean="0"/>
              <a:t>內容</a:t>
            </a:r>
            <a:r>
              <a:rPr lang="zh-TW" altLang="en-US" sz="1400" dirty="0"/>
              <a:t>僅會</a:t>
            </a:r>
            <a:r>
              <a:rPr lang="zh-TW" altLang="en-US" sz="1400" dirty="0" smtClean="0"/>
              <a:t>有第</a:t>
            </a:r>
            <a:r>
              <a:rPr lang="en-US" altLang="zh-TW" sz="1400" dirty="0" smtClean="0"/>
              <a:t>N</a:t>
            </a:r>
            <a:r>
              <a:rPr lang="zh-TW" altLang="en-US" sz="1400" dirty="0" smtClean="0"/>
              <a:t>比測資是成功</a:t>
            </a:r>
            <a:r>
              <a:rPr lang="en-US" altLang="zh-TW" sz="1400" dirty="0" smtClean="0"/>
              <a:t>or</a:t>
            </a:r>
            <a:r>
              <a:rPr lang="zh-TW" altLang="en-US" sz="1400" dirty="0" smtClean="0"/>
              <a:t>失敗</a:t>
            </a:r>
            <a:endParaRPr lang="en-US" altLang="zh-TW" sz="1400" dirty="0" smtClean="0"/>
          </a:p>
        </p:txBody>
      </p:sp>
      <p:cxnSp>
        <p:nvCxnSpPr>
          <p:cNvPr id="152" name="直線單箭頭接點 151"/>
          <p:cNvCxnSpPr/>
          <p:nvPr/>
        </p:nvCxnSpPr>
        <p:spPr>
          <a:xfrm flipH="1">
            <a:off x="6786211" y="1475463"/>
            <a:ext cx="17343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直線單箭頭接點 153"/>
          <p:cNvCxnSpPr>
            <a:endCxn id="90" idx="1"/>
          </p:cNvCxnSpPr>
          <p:nvPr/>
        </p:nvCxnSpPr>
        <p:spPr>
          <a:xfrm>
            <a:off x="6735351" y="6318774"/>
            <a:ext cx="17851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8711737" y="4001417"/>
            <a:ext cx="3183775" cy="71480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8706487" y="4080334"/>
            <a:ext cx="31837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/>
              <a:t>設定</a:t>
            </a:r>
            <a:r>
              <a:rPr lang="en-US" altLang="zh-TW" sz="1400" dirty="0"/>
              <a:t>control.py </a:t>
            </a:r>
          </a:p>
          <a:p>
            <a:pPr algn="ctr"/>
            <a:r>
              <a:rPr lang="zh-TW" altLang="en-US" sz="1400" dirty="0"/>
              <a:t>包含目標</a:t>
            </a:r>
            <a:r>
              <a:rPr lang="en-US" altLang="zh-TW" sz="1400" dirty="0" err="1"/>
              <a:t>ip</a:t>
            </a:r>
            <a:r>
              <a:rPr lang="en-US" altLang="zh-TW" sz="1400" dirty="0"/>
              <a:t> </a:t>
            </a:r>
            <a:r>
              <a:rPr lang="en-US" altLang="zh-TW" sz="1400" dirty="0" err="1"/>
              <a:t>addr</a:t>
            </a:r>
            <a:r>
              <a:rPr lang="en-US" altLang="zh-TW" sz="1400" dirty="0"/>
              <a:t>/port/user/</a:t>
            </a:r>
            <a:r>
              <a:rPr lang="en-US" altLang="zh-TW" sz="1400" dirty="0" err="1"/>
              <a:t>passwd</a:t>
            </a:r>
            <a:endParaRPr lang="en-US" altLang="zh-TW" sz="1400" dirty="0"/>
          </a:p>
          <a:p>
            <a:pPr algn="ctr"/>
            <a:endParaRPr lang="en-US" altLang="zh-TW" sz="1400" dirty="0"/>
          </a:p>
          <a:p>
            <a:pPr algn="ctr"/>
            <a:endParaRPr lang="zh-TW" altLang="en-US" dirty="0"/>
          </a:p>
        </p:txBody>
      </p:sp>
      <p:grpSp>
        <p:nvGrpSpPr>
          <p:cNvPr id="81" name="群組 80"/>
          <p:cNvGrpSpPr/>
          <p:nvPr/>
        </p:nvGrpSpPr>
        <p:grpSpPr>
          <a:xfrm>
            <a:off x="8711737" y="864277"/>
            <a:ext cx="3183775" cy="1057161"/>
            <a:chOff x="8406937" y="4213927"/>
            <a:chExt cx="3183775" cy="1712790"/>
          </a:xfrm>
        </p:grpSpPr>
        <p:sp>
          <p:nvSpPr>
            <p:cNvPr id="82" name="矩形 81"/>
            <p:cNvSpPr/>
            <p:nvPr/>
          </p:nvSpPr>
          <p:spPr>
            <a:xfrm>
              <a:off x="8406937" y="4213927"/>
              <a:ext cx="3183775" cy="100929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文字方塊 86"/>
            <p:cNvSpPr txBox="1"/>
            <p:nvPr/>
          </p:nvSpPr>
          <p:spPr>
            <a:xfrm>
              <a:off x="8409782" y="4281161"/>
              <a:ext cx="3175678" cy="1645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 smtClean="0"/>
                <a:t>設定</a:t>
              </a:r>
              <a:r>
                <a:rPr lang="en-US" altLang="zh-TW" sz="1400" dirty="0" smtClean="0"/>
                <a:t>switch</a:t>
              </a:r>
              <a:r>
                <a:rPr lang="zh-TW" altLang="en-US" sz="1400" dirty="0" smtClean="0"/>
                <a:t>，並將燒好的 </a:t>
              </a:r>
              <a:r>
                <a:rPr lang="en-US" altLang="zh-TW" sz="1400" dirty="0" err="1" smtClean="0"/>
                <a:t>fw_config.bin</a:t>
              </a:r>
              <a:endParaRPr lang="en-US" altLang="zh-TW" sz="1400" dirty="0" smtClean="0"/>
            </a:p>
            <a:p>
              <a:pPr algn="ctr"/>
              <a:r>
                <a:rPr lang="zh-TW" altLang="en-US" sz="1400" dirty="0" smtClean="0"/>
                <a:t>放到</a:t>
              </a:r>
              <a:r>
                <a:rPr lang="en-US" altLang="zh-TW" sz="1400" dirty="0" smtClean="0"/>
                <a:t>cle_va_usb_210107</a:t>
              </a:r>
              <a:r>
                <a:rPr lang="zh-TW" altLang="en-US" sz="1400" dirty="0" smtClean="0"/>
                <a:t>資料夾下方</a:t>
              </a:r>
              <a:endParaRPr lang="en-US" altLang="zh-TW" sz="1400" dirty="0"/>
            </a:p>
            <a:p>
              <a:pPr algn="ctr"/>
              <a:endParaRPr lang="en-US" altLang="zh-TW" sz="1400" dirty="0"/>
            </a:p>
            <a:p>
              <a:pPr algn="ctr"/>
              <a:endParaRPr lang="zh-TW" altLang="en-US" dirty="0"/>
            </a:p>
          </p:txBody>
        </p:sp>
      </p:grpSp>
      <p:sp>
        <p:nvSpPr>
          <p:cNvPr id="88" name="矩形 87"/>
          <p:cNvSpPr/>
          <p:nvPr/>
        </p:nvSpPr>
        <p:spPr>
          <a:xfrm>
            <a:off x="8706486" y="4918877"/>
            <a:ext cx="3183775" cy="53828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文字方塊 88"/>
          <p:cNvSpPr txBox="1"/>
          <p:nvPr/>
        </p:nvSpPr>
        <p:spPr>
          <a:xfrm>
            <a:off x="8711737" y="5035255"/>
            <a:ext cx="3178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 smtClean="0"/>
              <a:t>執行</a:t>
            </a:r>
            <a:r>
              <a:rPr lang="en-US" altLang="zh-TW" sz="1400" dirty="0" smtClean="0"/>
              <a:t>control.py </a:t>
            </a:r>
            <a:endParaRPr lang="en-US" altLang="zh-TW" sz="1400" dirty="0"/>
          </a:p>
          <a:p>
            <a:pPr algn="ctr"/>
            <a:endParaRPr lang="zh-TW" altLang="en-US" dirty="0"/>
          </a:p>
        </p:txBody>
      </p:sp>
      <p:sp>
        <p:nvSpPr>
          <p:cNvPr id="102" name="矩形 101"/>
          <p:cNvSpPr/>
          <p:nvPr/>
        </p:nvSpPr>
        <p:spPr>
          <a:xfrm>
            <a:off x="189855" y="756196"/>
            <a:ext cx="6428706" cy="3099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文字方塊 102"/>
          <p:cNvSpPr txBox="1"/>
          <p:nvPr/>
        </p:nvSpPr>
        <p:spPr>
          <a:xfrm>
            <a:off x="254334" y="755034"/>
            <a:ext cx="6379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control.py </a:t>
            </a:r>
            <a:r>
              <a:rPr lang="zh-TW" altLang="en-US" sz="1400" dirty="0" smtClean="0"/>
              <a:t>遠端呼叫</a:t>
            </a:r>
            <a:r>
              <a:rPr lang="en-US" altLang="zh-TW" sz="1400" dirty="0" smtClean="0"/>
              <a:t>main.sh</a:t>
            </a:r>
            <a:endParaRPr lang="en-US" altLang="zh-TW" sz="1400" dirty="0"/>
          </a:p>
        </p:txBody>
      </p:sp>
      <p:sp>
        <p:nvSpPr>
          <p:cNvPr id="136" name="文字方塊 135"/>
          <p:cNvSpPr txBox="1"/>
          <p:nvPr/>
        </p:nvSpPr>
        <p:spPr>
          <a:xfrm>
            <a:off x="254334" y="1174151"/>
            <a:ext cx="6370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/>
              <a:t>按照</a:t>
            </a:r>
            <a:r>
              <a:rPr lang="en-US" altLang="zh-TW" sz="1400" dirty="0"/>
              <a:t>main.sh</a:t>
            </a:r>
            <a:r>
              <a:rPr lang="zh-TW" altLang="en-US" sz="1400" dirty="0"/>
              <a:t>重新設定後的</a:t>
            </a:r>
            <a:r>
              <a:rPr lang="zh-TW" altLang="en-US" sz="1400" dirty="0" smtClean="0"/>
              <a:t>資訊執行</a:t>
            </a:r>
            <a:r>
              <a:rPr lang="en-US" altLang="zh-TW" sz="1400" dirty="0" smtClean="0"/>
              <a:t>tcp_test.txt</a:t>
            </a:r>
            <a:endParaRPr lang="en-US" altLang="zh-TW" sz="1400" dirty="0"/>
          </a:p>
        </p:txBody>
      </p:sp>
      <p:sp>
        <p:nvSpPr>
          <p:cNvPr id="140" name="文字方塊 139"/>
          <p:cNvSpPr txBox="1"/>
          <p:nvPr/>
        </p:nvSpPr>
        <p:spPr>
          <a:xfrm>
            <a:off x="295778" y="2831548"/>
            <a:ext cx="6364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 smtClean="0"/>
              <a:t>呼叫</a:t>
            </a:r>
            <a:r>
              <a:rPr lang="en-US" altLang="zh-TW" sz="1400" dirty="0" smtClean="0"/>
              <a:t>tcp_analyze.sh</a:t>
            </a:r>
            <a:endParaRPr lang="en-US" altLang="zh-TW" sz="1400" dirty="0"/>
          </a:p>
        </p:txBody>
      </p:sp>
      <p:sp>
        <p:nvSpPr>
          <p:cNvPr id="143" name="文字方塊 142"/>
          <p:cNvSpPr txBox="1"/>
          <p:nvPr/>
        </p:nvSpPr>
        <p:spPr>
          <a:xfrm>
            <a:off x="532014" y="3160892"/>
            <a:ext cx="5810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 smtClean="0"/>
              <a:t>將</a:t>
            </a:r>
            <a:r>
              <a:rPr lang="en-US" altLang="zh-TW" sz="1400" dirty="0" smtClean="0"/>
              <a:t>tcp_first_4_row.txt</a:t>
            </a:r>
            <a:r>
              <a:rPr lang="zh-TW" altLang="en-US" sz="1400" dirty="0"/>
              <a:t>中按照不同封包分裝</a:t>
            </a:r>
            <a:r>
              <a:rPr lang="zh-TW" altLang="en-US" sz="1400" dirty="0" smtClean="0"/>
              <a:t>到</a:t>
            </a:r>
            <a:r>
              <a:rPr lang="en-US" altLang="zh-TW" sz="1400" dirty="0" smtClean="0"/>
              <a:t>tcpX.txt(X</a:t>
            </a:r>
            <a:r>
              <a:rPr lang="zh-TW" altLang="en-US" sz="1400" dirty="0"/>
              <a:t>是計數</a:t>
            </a:r>
            <a:r>
              <a:rPr lang="en-US" altLang="zh-TW" sz="1400" dirty="0"/>
              <a:t>)</a:t>
            </a:r>
          </a:p>
        </p:txBody>
      </p:sp>
      <p:sp>
        <p:nvSpPr>
          <p:cNvPr id="163" name="矩形 162"/>
          <p:cNvSpPr/>
          <p:nvPr/>
        </p:nvSpPr>
        <p:spPr>
          <a:xfrm>
            <a:off x="189855" y="2414641"/>
            <a:ext cx="6428706" cy="3099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0" name="文字方塊 149"/>
          <p:cNvSpPr txBox="1"/>
          <p:nvPr/>
        </p:nvSpPr>
        <p:spPr>
          <a:xfrm>
            <a:off x="295778" y="2414920"/>
            <a:ext cx="6338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/>
              <a:t>將需要的部分抓出，</a:t>
            </a:r>
            <a:r>
              <a:rPr lang="zh-TW" altLang="en-US" sz="1400" dirty="0" smtClean="0"/>
              <a:t>存入</a:t>
            </a:r>
            <a:r>
              <a:rPr lang="en-US" altLang="zh-TW" sz="1400" dirty="0" smtClean="0"/>
              <a:t>tcp_first_4_row.txt</a:t>
            </a:r>
            <a:endParaRPr lang="en-US" altLang="zh-TW" sz="1400" dirty="0"/>
          </a:p>
        </p:txBody>
      </p:sp>
      <p:sp>
        <p:nvSpPr>
          <p:cNvPr id="162" name="矩形 161"/>
          <p:cNvSpPr/>
          <p:nvPr/>
        </p:nvSpPr>
        <p:spPr>
          <a:xfrm>
            <a:off x="189855" y="2000912"/>
            <a:ext cx="6428706" cy="3099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5" name="文字方塊 154"/>
          <p:cNvSpPr txBox="1"/>
          <p:nvPr/>
        </p:nvSpPr>
        <p:spPr>
          <a:xfrm>
            <a:off x="295778" y="2011613"/>
            <a:ext cx="63478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/>
              <a:t>利用</a:t>
            </a:r>
            <a:r>
              <a:rPr lang="en-US" altLang="zh-TW" sz="1400" dirty="0" err="1"/>
              <a:t>tshark</a:t>
            </a:r>
            <a:r>
              <a:rPr lang="zh-TW" altLang="en-US" sz="1400" dirty="0" smtClean="0"/>
              <a:t>執行截取雙方傳送的</a:t>
            </a:r>
            <a:r>
              <a:rPr lang="en-US" altLang="zh-TW" sz="1400" dirty="0" smtClean="0"/>
              <a:t>TCP</a:t>
            </a:r>
            <a:r>
              <a:rPr lang="zh-TW" altLang="en-US" sz="1400" dirty="0" smtClean="0"/>
              <a:t>種類封包</a:t>
            </a:r>
            <a:endParaRPr lang="en-US" altLang="zh-TW" sz="1400" dirty="0"/>
          </a:p>
        </p:txBody>
      </p:sp>
      <p:sp>
        <p:nvSpPr>
          <p:cNvPr id="158" name="文字方塊 157"/>
          <p:cNvSpPr txBox="1"/>
          <p:nvPr/>
        </p:nvSpPr>
        <p:spPr>
          <a:xfrm>
            <a:off x="295778" y="1600816"/>
            <a:ext cx="6322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 smtClean="0"/>
              <a:t>tcp_test.txt</a:t>
            </a:r>
            <a:r>
              <a:rPr lang="zh-TW" altLang="en-US" sz="1400" dirty="0" smtClean="0"/>
              <a:t>首先在背景開兩個</a:t>
            </a:r>
            <a:r>
              <a:rPr lang="en-US" altLang="zh-TW" sz="1400" dirty="0" smtClean="0"/>
              <a:t>terminal</a:t>
            </a:r>
            <a:r>
              <a:rPr lang="zh-TW" altLang="en-US" sz="1400" dirty="0" smtClean="0"/>
              <a:t>，分別執行</a:t>
            </a:r>
            <a:r>
              <a:rPr lang="en-US" altLang="zh-TW" sz="1400" dirty="0" smtClean="0"/>
              <a:t>tcp_listener.py</a:t>
            </a:r>
            <a:r>
              <a:rPr lang="zh-TW" altLang="en-US" sz="1400" dirty="0" smtClean="0"/>
              <a:t>與</a:t>
            </a:r>
            <a:r>
              <a:rPr lang="en-US" altLang="zh-TW" sz="1400" dirty="0" smtClean="0"/>
              <a:t>tcp_sender.py</a:t>
            </a:r>
            <a:endParaRPr lang="en-US" altLang="zh-TW" sz="1400" dirty="0"/>
          </a:p>
        </p:txBody>
      </p:sp>
      <p:sp>
        <p:nvSpPr>
          <p:cNvPr id="167" name="矩形 166"/>
          <p:cNvSpPr/>
          <p:nvPr/>
        </p:nvSpPr>
        <p:spPr>
          <a:xfrm>
            <a:off x="461503" y="3558959"/>
            <a:ext cx="5885411" cy="3099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8" name="文字方塊 167"/>
          <p:cNvSpPr txBox="1"/>
          <p:nvPr/>
        </p:nvSpPr>
        <p:spPr>
          <a:xfrm>
            <a:off x="481153" y="3570100"/>
            <a:ext cx="586145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300" dirty="0"/>
              <a:t>判斷</a:t>
            </a:r>
            <a:r>
              <a:rPr lang="zh-TW" altLang="en-US" sz="1300" dirty="0" smtClean="0"/>
              <a:t>各</a:t>
            </a:r>
            <a:r>
              <a:rPr lang="zh-TW" altLang="en-US" sz="1300" dirty="0"/>
              <a:t>封</a:t>
            </a:r>
            <a:r>
              <a:rPr lang="zh-TW" altLang="en-US" sz="1300" dirty="0" smtClean="0"/>
              <a:t>包</a:t>
            </a:r>
            <a:r>
              <a:rPr lang="en-US" altLang="zh-TW" sz="1300" dirty="0" smtClean="0"/>
              <a:t>Protocol</a:t>
            </a:r>
            <a:r>
              <a:rPr lang="zh-TW" altLang="en-US" sz="1300" dirty="0"/>
              <a:t>、</a:t>
            </a:r>
            <a:r>
              <a:rPr lang="en-US" altLang="zh-TW" sz="1300" dirty="0"/>
              <a:t>Source IP</a:t>
            </a:r>
            <a:r>
              <a:rPr lang="zh-TW" altLang="en-US" sz="1300" dirty="0"/>
              <a:t>、</a:t>
            </a:r>
            <a:r>
              <a:rPr lang="en-US" altLang="zh-TW" sz="1300" dirty="0"/>
              <a:t>Distance IP</a:t>
            </a:r>
            <a:r>
              <a:rPr lang="zh-TW" altLang="en-US" sz="1300" dirty="0" smtClean="0"/>
              <a:t>、</a:t>
            </a:r>
            <a:r>
              <a:rPr lang="en-US" altLang="zh-TW" sz="1300" dirty="0" smtClean="0"/>
              <a:t>Port</a:t>
            </a:r>
            <a:endParaRPr lang="en-US" altLang="zh-TW" sz="1300" dirty="0"/>
          </a:p>
        </p:txBody>
      </p:sp>
      <p:sp>
        <p:nvSpPr>
          <p:cNvPr id="169" name="矩形 168"/>
          <p:cNvSpPr/>
          <p:nvPr/>
        </p:nvSpPr>
        <p:spPr>
          <a:xfrm>
            <a:off x="461503" y="3950635"/>
            <a:ext cx="5885411" cy="3099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0" name="文字方塊 169"/>
          <p:cNvSpPr txBox="1"/>
          <p:nvPr/>
        </p:nvSpPr>
        <p:spPr>
          <a:xfrm>
            <a:off x="532013" y="3948840"/>
            <a:ext cx="58105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/>
              <a:t>將</a:t>
            </a:r>
            <a:r>
              <a:rPr lang="en-US" altLang="zh-TW" sz="1400" dirty="0"/>
              <a:t>Port</a:t>
            </a:r>
            <a:r>
              <a:rPr lang="zh-TW" altLang="en-US" sz="1400" dirty="0"/>
              <a:t>值輸出到</a:t>
            </a:r>
            <a:r>
              <a:rPr lang="en-US" altLang="zh-TW" sz="1400" dirty="0" smtClean="0"/>
              <a:t>tmp1.txt</a:t>
            </a:r>
          </a:p>
        </p:txBody>
      </p:sp>
      <p:sp>
        <p:nvSpPr>
          <p:cNvPr id="171" name="矩形 170"/>
          <p:cNvSpPr/>
          <p:nvPr/>
        </p:nvSpPr>
        <p:spPr>
          <a:xfrm>
            <a:off x="461503" y="4342311"/>
            <a:ext cx="5885411" cy="3099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2" name="文字方塊 171"/>
          <p:cNvSpPr txBox="1"/>
          <p:nvPr/>
        </p:nvSpPr>
        <p:spPr>
          <a:xfrm>
            <a:off x="481153" y="4349311"/>
            <a:ext cx="586145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300" dirty="0" smtClean="0"/>
              <a:t>將</a:t>
            </a:r>
            <a:r>
              <a:rPr lang="en-US" altLang="zh-TW" sz="1300" dirty="0" smtClean="0"/>
              <a:t>icmp_analyze.sh</a:t>
            </a:r>
            <a:r>
              <a:rPr lang="zh-TW" altLang="en-US" sz="1300" dirty="0" smtClean="0"/>
              <a:t>的分析結果以方便閱讀的形式輸出到</a:t>
            </a:r>
            <a:r>
              <a:rPr lang="en-US" altLang="zh-TW" sz="1300" dirty="0" smtClean="0"/>
              <a:t>tcp_analyze_result.txt</a:t>
            </a:r>
            <a:endParaRPr lang="en-US" altLang="zh-TW" sz="1300" dirty="0"/>
          </a:p>
        </p:txBody>
      </p:sp>
      <p:sp>
        <p:nvSpPr>
          <p:cNvPr id="173" name="矩形 172"/>
          <p:cNvSpPr/>
          <p:nvPr/>
        </p:nvSpPr>
        <p:spPr>
          <a:xfrm>
            <a:off x="189855" y="4900237"/>
            <a:ext cx="6428706" cy="5694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4" name="文字方塊 173"/>
          <p:cNvSpPr txBox="1"/>
          <p:nvPr/>
        </p:nvSpPr>
        <p:spPr>
          <a:xfrm>
            <a:off x="315184" y="4942963"/>
            <a:ext cx="63447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dirty="0"/>
              <a:t>由於</a:t>
            </a:r>
            <a:r>
              <a:rPr lang="en-US" altLang="zh-TW" sz="1400" dirty="0"/>
              <a:t>tcp_listener.py</a:t>
            </a:r>
            <a:r>
              <a:rPr lang="zh-TW" altLang="en-US" sz="1400" dirty="0"/>
              <a:t>每次傳送封包都會將目標</a:t>
            </a:r>
            <a:r>
              <a:rPr lang="en-US" altLang="zh-TW" sz="1400" dirty="0" smtClean="0"/>
              <a:t>port+1</a:t>
            </a:r>
            <a:r>
              <a:rPr lang="zh-TW" altLang="en-US" sz="1400" dirty="0" smtClean="0"/>
              <a:t>，</a:t>
            </a:r>
            <a:r>
              <a:rPr lang="zh-TW" altLang="en-US" sz="1400" dirty="0"/>
              <a:t>因此</a:t>
            </a:r>
            <a:r>
              <a:rPr lang="zh-TW" altLang="en-US" sz="1400" dirty="0" smtClean="0"/>
              <a:t>透過觀察並排序後的</a:t>
            </a:r>
            <a:r>
              <a:rPr lang="en-US" altLang="zh-TW" sz="1400" dirty="0" smtClean="0"/>
              <a:t>port</a:t>
            </a:r>
            <a:r>
              <a:rPr lang="zh-TW" altLang="en-US" sz="1400" dirty="0" smtClean="0"/>
              <a:t>序列，</a:t>
            </a:r>
            <a:r>
              <a:rPr lang="zh-TW" altLang="en-US" sz="1400" dirty="0"/>
              <a:t>可以</a:t>
            </a:r>
            <a:r>
              <a:rPr lang="zh-TW" altLang="en-US" sz="1400" dirty="0" smtClean="0"/>
              <a:t>判斷所有封包是連續獲得的還是中間有</a:t>
            </a:r>
            <a:r>
              <a:rPr lang="en-US" altLang="zh-TW" sz="1400" dirty="0" smtClean="0"/>
              <a:t>loss</a:t>
            </a:r>
            <a:endParaRPr lang="en-US" altLang="zh-TW" sz="1400" dirty="0"/>
          </a:p>
        </p:txBody>
      </p:sp>
      <p:sp>
        <p:nvSpPr>
          <p:cNvPr id="175" name="矩形 174"/>
          <p:cNvSpPr/>
          <p:nvPr/>
        </p:nvSpPr>
        <p:spPr>
          <a:xfrm>
            <a:off x="189855" y="5589025"/>
            <a:ext cx="6428706" cy="3099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6" name="文字方塊 175"/>
          <p:cNvSpPr txBox="1"/>
          <p:nvPr/>
        </p:nvSpPr>
        <p:spPr>
          <a:xfrm>
            <a:off x="295778" y="5588149"/>
            <a:ext cx="6322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 smtClean="0"/>
              <a:t>依照</a:t>
            </a:r>
            <a:r>
              <a:rPr lang="en-US" altLang="zh-TW" sz="1400" dirty="0" smtClean="0"/>
              <a:t>port</a:t>
            </a:r>
            <a:r>
              <a:rPr lang="zh-TW" altLang="en-US" sz="1400" dirty="0" smtClean="0"/>
              <a:t>是否連續決定</a:t>
            </a:r>
            <a:r>
              <a:rPr lang="zh-TW" altLang="en-US" sz="1400" dirty="0"/>
              <a:t>該次是否測試</a:t>
            </a:r>
            <a:r>
              <a:rPr lang="zh-TW" altLang="en-US" sz="1400" dirty="0" smtClean="0"/>
              <a:t>通過，</a:t>
            </a:r>
            <a:r>
              <a:rPr lang="zh-TW" altLang="en-US" sz="1400" dirty="0"/>
              <a:t>若非連續則</a:t>
            </a:r>
            <a:r>
              <a:rPr lang="zh-TW" altLang="en-US" sz="1400" dirty="0" smtClean="0"/>
              <a:t>輸出</a:t>
            </a:r>
            <a:r>
              <a:rPr lang="en-US" altLang="zh-TW" sz="1400" dirty="0" smtClean="0"/>
              <a:t>loss port</a:t>
            </a:r>
            <a:endParaRPr lang="en-US" altLang="zh-TW" sz="1400" dirty="0"/>
          </a:p>
        </p:txBody>
      </p:sp>
      <p:cxnSp>
        <p:nvCxnSpPr>
          <p:cNvPr id="94" name="直線單箭頭接點 93"/>
          <p:cNvCxnSpPr>
            <a:stCxn id="103" idx="2"/>
            <a:endCxn id="136" idx="0"/>
          </p:cNvCxnSpPr>
          <p:nvPr/>
        </p:nvCxnSpPr>
        <p:spPr>
          <a:xfrm flipH="1">
            <a:off x="3439481" y="1062811"/>
            <a:ext cx="4762" cy="111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線單箭頭接點 183"/>
          <p:cNvCxnSpPr>
            <a:stCxn id="155" idx="2"/>
            <a:endCxn id="150" idx="0"/>
          </p:cNvCxnSpPr>
          <p:nvPr/>
        </p:nvCxnSpPr>
        <p:spPr>
          <a:xfrm flipH="1">
            <a:off x="3464965" y="2319390"/>
            <a:ext cx="4748" cy="95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線單箭頭接點 185"/>
          <p:cNvCxnSpPr>
            <a:stCxn id="150" idx="2"/>
            <a:endCxn id="140" idx="0"/>
          </p:cNvCxnSpPr>
          <p:nvPr/>
        </p:nvCxnSpPr>
        <p:spPr>
          <a:xfrm>
            <a:off x="3464965" y="2722697"/>
            <a:ext cx="12886" cy="108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線單箭頭接點 187"/>
          <p:cNvCxnSpPr>
            <a:stCxn id="164" idx="2"/>
            <a:endCxn id="173" idx="0"/>
          </p:cNvCxnSpPr>
          <p:nvPr/>
        </p:nvCxnSpPr>
        <p:spPr>
          <a:xfrm>
            <a:off x="3404208" y="4784585"/>
            <a:ext cx="0" cy="115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線單箭頭接點 189"/>
          <p:cNvCxnSpPr>
            <a:stCxn id="174" idx="2"/>
          </p:cNvCxnSpPr>
          <p:nvPr/>
        </p:nvCxnSpPr>
        <p:spPr>
          <a:xfrm flipH="1">
            <a:off x="3477851" y="5466183"/>
            <a:ext cx="9703" cy="121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線單箭頭接點 191"/>
          <p:cNvCxnSpPr>
            <a:endCxn id="61" idx="0"/>
          </p:cNvCxnSpPr>
          <p:nvPr/>
        </p:nvCxnSpPr>
        <p:spPr>
          <a:xfrm>
            <a:off x="4156364" y="5879300"/>
            <a:ext cx="13600" cy="189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972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2340" y="191193"/>
            <a:ext cx="2460567" cy="18953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1117604" y="357447"/>
            <a:ext cx="230723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 smtClean="0"/>
              <a:t>自訂</a:t>
            </a:r>
            <a:r>
              <a:rPr lang="zh-TW" altLang="en-US" sz="1400" dirty="0" smtClean="0"/>
              <a:t>義</a:t>
            </a:r>
            <a:r>
              <a:rPr lang="en-US" altLang="zh-TW" sz="1400" dirty="0" smtClean="0"/>
              <a:t>CP (Control Penal)</a:t>
            </a:r>
            <a:endParaRPr lang="en-US" altLang="zh-TW" sz="1400" dirty="0" smtClean="0"/>
          </a:p>
          <a:p>
            <a:pPr marL="342900" indent="-342900">
              <a:buAutoNum type="arabicPeriod"/>
            </a:pPr>
            <a:r>
              <a:rPr lang="zh-TW" altLang="en-US" sz="1400" dirty="0" smtClean="0"/>
              <a:t>基本</a:t>
            </a:r>
            <a:r>
              <a:rPr lang="en-US" altLang="zh-TW" sz="1400" dirty="0" err="1" smtClean="0"/>
              <a:t>ip</a:t>
            </a:r>
            <a:r>
              <a:rPr lang="zh-TW" altLang="en-US" sz="1400" dirty="0" smtClean="0"/>
              <a:t>設定</a:t>
            </a:r>
            <a:endParaRPr lang="en-US" altLang="zh-TW" sz="1400" dirty="0" smtClean="0"/>
          </a:p>
          <a:p>
            <a:pPr marL="342900" indent="-342900">
              <a:buAutoNum type="arabicPeriod"/>
            </a:pPr>
            <a:r>
              <a:rPr lang="en-US" altLang="zh-TW" sz="1400" dirty="0" smtClean="0"/>
              <a:t>Mode</a:t>
            </a:r>
          </a:p>
          <a:p>
            <a:pPr marL="342900" indent="-342900">
              <a:buAutoNum type="arabicPeriod"/>
            </a:pPr>
            <a:r>
              <a:rPr lang="zh-TW" altLang="en-US" sz="1400" dirty="0"/>
              <a:t>封包傳輸</a:t>
            </a:r>
            <a:r>
              <a:rPr lang="zh-TW" altLang="en-US" sz="1400" dirty="0" smtClean="0"/>
              <a:t>方式</a:t>
            </a:r>
            <a:endParaRPr lang="en-US" altLang="zh-TW" sz="1400" dirty="0" smtClean="0"/>
          </a:p>
          <a:p>
            <a:pPr marL="342900" indent="-342900">
              <a:buAutoNum type="arabicPeriod"/>
            </a:pPr>
            <a:r>
              <a:rPr lang="zh-TW" altLang="en-US" sz="1400" dirty="0"/>
              <a:t>探測封包</a:t>
            </a:r>
            <a:r>
              <a:rPr lang="zh-TW" altLang="en-US" sz="1400" dirty="0" smtClean="0"/>
              <a:t>的類型</a:t>
            </a:r>
            <a:endParaRPr lang="en-US" altLang="zh-TW" sz="1400" dirty="0" smtClean="0"/>
          </a:p>
          <a:p>
            <a:pPr marL="342900" indent="-342900">
              <a:buAutoNum type="arabicPeriod"/>
            </a:pPr>
            <a:r>
              <a:rPr lang="zh-TW" altLang="en-US" sz="1400" dirty="0"/>
              <a:t>要打的</a:t>
            </a:r>
            <a:r>
              <a:rPr lang="zh-TW" altLang="en-US" sz="1400" dirty="0" smtClean="0"/>
              <a:t>數量</a:t>
            </a:r>
            <a:endParaRPr lang="en-US" altLang="zh-TW" sz="1400" dirty="0" smtClean="0"/>
          </a:p>
          <a:p>
            <a:pPr marL="342900" indent="-342900">
              <a:buAutoNum type="arabicPeriod"/>
            </a:pPr>
            <a:r>
              <a:rPr lang="zh-TW" altLang="en-US" sz="1400" dirty="0" smtClean="0"/>
              <a:t>要抓取的</a:t>
            </a:r>
            <a:r>
              <a:rPr lang="en-US" altLang="zh-TW" sz="1400" dirty="0" smtClean="0"/>
              <a:t>offset </a:t>
            </a:r>
            <a:r>
              <a:rPr lang="zh-TW" altLang="en-US" sz="1400" dirty="0" smtClean="0"/>
              <a:t>欄位</a:t>
            </a:r>
            <a:endParaRPr lang="zh-TW" altLang="en-US" sz="1400" dirty="0"/>
          </a:p>
        </p:txBody>
      </p:sp>
      <p:sp>
        <p:nvSpPr>
          <p:cNvPr id="4" name="矩形 3"/>
          <p:cNvSpPr/>
          <p:nvPr/>
        </p:nvSpPr>
        <p:spPr>
          <a:xfrm>
            <a:off x="3679768" y="190965"/>
            <a:ext cx="4145280" cy="5818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3776749" y="282405"/>
            <a:ext cx="3940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main.sh</a:t>
            </a:r>
            <a:r>
              <a:rPr lang="zh-TW" altLang="en-US" dirty="0" smtClean="0"/>
              <a:t>修改</a:t>
            </a:r>
            <a:r>
              <a:rPr lang="en-US" altLang="zh-TW" dirty="0" smtClean="0"/>
              <a:t>set_netns.sh</a:t>
            </a:r>
            <a:r>
              <a:rPr lang="zh-TW" altLang="en-US" dirty="0" smtClean="0"/>
              <a:t>的所有</a:t>
            </a:r>
            <a:r>
              <a:rPr lang="en-US" altLang="zh-TW" dirty="0" err="1" smtClean="0"/>
              <a:t>ip</a:t>
            </a:r>
            <a:r>
              <a:rPr lang="en-US" altLang="zh-TW" dirty="0" smtClean="0"/>
              <a:t> data</a:t>
            </a:r>
          </a:p>
        </p:txBody>
      </p:sp>
      <p:sp>
        <p:nvSpPr>
          <p:cNvPr id="6" name="矩形 5"/>
          <p:cNvSpPr/>
          <p:nvPr/>
        </p:nvSpPr>
        <p:spPr>
          <a:xfrm>
            <a:off x="3679768" y="847292"/>
            <a:ext cx="4145280" cy="5818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3776749" y="933569"/>
            <a:ext cx="3940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main.sh</a:t>
            </a:r>
            <a:r>
              <a:rPr lang="zh-TW" altLang="en-US" dirty="0" smtClean="0"/>
              <a:t>根據</a:t>
            </a:r>
            <a:r>
              <a:rPr lang="en-US" altLang="zh-TW" dirty="0" smtClean="0"/>
              <a:t>mode</a:t>
            </a:r>
            <a:r>
              <a:rPr lang="zh-TW" altLang="en-US" dirty="0" smtClean="0"/>
              <a:t>改變打封包模式</a:t>
            </a:r>
            <a:endParaRPr lang="en-US" altLang="zh-TW" dirty="0" smtClean="0"/>
          </a:p>
        </p:txBody>
      </p:sp>
      <p:sp>
        <p:nvSpPr>
          <p:cNvPr id="8" name="矩形 7"/>
          <p:cNvSpPr/>
          <p:nvPr/>
        </p:nvSpPr>
        <p:spPr>
          <a:xfrm>
            <a:off x="3679768" y="1503618"/>
            <a:ext cx="4145280" cy="5818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3776749" y="1595058"/>
            <a:ext cx="3940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在背景執行封包傳送</a:t>
            </a:r>
            <a:endParaRPr lang="en-US" altLang="zh-TW" dirty="0" smtClean="0"/>
          </a:p>
        </p:txBody>
      </p:sp>
      <p:sp>
        <p:nvSpPr>
          <p:cNvPr id="10" name="矩形 9"/>
          <p:cNvSpPr/>
          <p:nvPr/>
        </p:nvSpPr>
        <p:spPr>
          <a:xfrm>
            <a:off x="1075249" y="2239170"/>
            <a:ext cx="10587507" cy="34070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1219873" y="2343925"/>
            <a:ext cx="11149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截獲封包後開始解析類型及各欄位，並依照使用者自訂義的需求將數據集中到同一個檔案裡</a:t>
            </a:r>
            <a:endParaRPr lang="en-US" altLang="zh-TW" dirty="0" smtClean="0"/>
          </a:p>
        </p:txBody>
      </p:sp>
      <p:sp>
        <p:nvSpPr>
          <p:cNvPr id="12" name="矩形 11"/>
          <p:cNvSpPr/>
          <p:nvPr/>
        </p:nvSpPr>
        <p:spPr>
          <a:xfrm>
            <a:off x="1072340" y="5822934"/>
            <a:ext cx="10931237" cy="838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1128027" y="6052972"/>
            <a:ext cx="10390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與此</a:t>
            </a:r>
            <a:r>
              <a:rPr lang="zh-TW" altLang="en-US" dirty="0" smtClean="0"/>
              <a:t>同時，透過上方的轉譯結果分析封包</a:t>
            </a:r>
            <a:r>
              <a:rPr lang="zh-TW" altLang="en-US" dirty="0"/>
              <a:t>結果</a:t>
            </a:r>
            <a:r>
              <a:rPr lang="zh-TW" altLang="en-US" dirty="0" smtClean="0"/>
              <a:t>來確認傳輸是否成功，</a:t>
            </a:r>
            <a:r>
              <a:rPr lang="zh-TW" altLang="en-US" dirty="0"/>
              <a:t>並</a:t>
            </a:r>
            <a:r>
              <a:rPr lang="zh-TW" altLang="en-US" dirty="0" smtClean="0"/>
              <a:t>將</a:t>
            </a:r>
            <a:r>
              <a:rPr lang="en-US" altLang="zh-TW" dirty="0" smtClean="0"/>
              <a:t>pass/fail</a:t>
            </a:r>
            <a:r>
              <a:rPr lang="zh-TW" altLang="en-US" dirty="0" smtClean="0"/>
              <a:t>結果</a:t>
            </a:r>
            <a:r>
              <a:rPr lang="zh-TW" altLang="en-US" dirty="0"/>
              <a:t>傳送回主機</a:t>
            </a:r>
            <a:endParaRPr lang="en-US" altLang="zh-TW" dirty="0" smtClean="0"/>
          </a:p>
        </p:txBody>
      </p:sp>
      <p:sp>
        <p:nvSpPr>
          <p:cNvPr id="16" name="矩形 15"/>
          <p:cNvSpPr/>
          <p:nvPr/>
        </p:nvSpPr>
        <p:spPr>
          <a:xfrm>
            <a:off x="1316320" y="2879250"/>
            <a:ext cx="5652653" cy="51538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1441011" y="2937437"/>
            <a:ext cx="535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封包類型、</a:t>
            </a:r>
            <a:r>
              <a:rPr lang="en-US" altLang="zh-TW" dirty="0" err="1" smtClean="0"/>
              <a:t>src</a:t>
            </a:r>
            <a:r>
              <a:rPr lang="zh-TW" altLang="en-US" dirty="0" smtClean="0"/>
              <a:t>、</a:t>
            </a:r>
            <a:r>
              <a:rPr lang="en-US" altLang="zh-TW" dirty="0" err="1" smtClean="0"/>
              <a:t>dst</a:t>
            </a:r>
            <a:r>
              <a:rPr lang="zh-TW" altLang="en-US" dirty="0" smtClean="0"/>
              <a:t>、</a:t>
            </a:r>
            <a:r>
              <a:rPr lang="en-US" altLang="zh-TW" dirty="0" err="1" smtClean="0"/>
              <a:t>seq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num</a:t>
            </a:r>
            <a:r>
              <a:rPr lang="zh-TW" altLang="en-US" dirty="0" smtClean="0"/>
              <a:t>、</a:t>
            </a:r>
            <a:r>
              <a:rPr lang="en-US" altLang="zh-TW" dirty="0" smtClean="0"/>
              <a:t>length</a:t>
            </a:r>
            <a:r>
              <a:rPr lang="zh-TW" altLang="en-US" dirty="0" smtClean="0"/>
              <a:t>、</a:t>
            </a:r>
            <a:r>
              <a:rPr lang="en-US" altLang="zh-TW" dirty="0" smtClean="0"/>
              <a:t>protocol…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8021782" y="651965"/>
            <a:ext cx="3981796" cy="13059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8129847" y="804640"/>
            <a:ext cx="39402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按照</a:t>
            </a:r>
            <a:r>
              <a:rPr lang="zh-TW" altLang="en-US" dirty="0"/>
              <a:t>輸出螢幕上的字串</a:t>
            </a:r>
            <a:r>
              <a:rPr lang="zh-TW" altLang="en-US" dirty="0" smtClean="0"/>
              <a:t>比對的功能</a:t>
            </a:r>
            <a:endParaRPr lang="en-US" altLang="zh-TW" dirty="0" smtClean="0"/>
          </a:p>
          <a:p>
            <a:r>
              <a:rPr lang="zh-TW" altLang="en-US" dirty="0"/>
              <a:t>單獨</a:t>
            </a:r>
            <a:r>
              <a:rPr lang="zh-TW" altLang="en-US" dirty="0" smtClean="0"/>
              <a:t>出來，但如果除了</a:t>
            </a:r>
            <a:r>
              <a:rPr lang="en-US" altLang="zh-TW" dirty="0" smtClean="0"/>
              <a:t>ping</a:t>
            </a:r>
            <a:r>
              <a:rPr lang="zh-TW" altLang="en-US" dirty="0" smtClean="0"/>
              <a:t>以外的打封包方式也有螢幕顯示一樣可以使用</a:t>
            </a:r>
            <a:endParaRPr lang="en-US" altLang="zh-TW" dirty="0" smtClean="0"/>
          </a:p>
        </p:txBody>
      </p:sp>
      <p:sp>
        <p:nvSpPr>
          <p:cNvPr id="25" name="矩形 24"/>
          <p:cNvSpPr/>
          <p:nvPr/>
        </p:nvSpPr>
        <p:spPr>
          <a:xfrm>
            <a:off x="7354103" y="2879250"/>
            <a:ext cx="4081550" cy="51538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7462168" y="2937437"/>
            <a:ext cx="3931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全紀錄結果整理後放到同一個文件</a:t>
            </a:r>
          </a:p>
        </p:txBody>
      </p:sp>
      <p:sp>
        <p:nvSpPr>
          <p:cNvPr id="27" name="矩形 26"/>
          <p:cNvSpPr/>
          <p:nvPr/>
        </p:nvSpPr>
        <p:spPr>
          <a:xfrm>
            <a:off x="1324633" y="3746546"/>
            <a:ext cx="1578619" cy="51538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/>
          <p:cNvSpPr/>
          <p:nvPr/>
        </p:nvSpPr>
        <p:spPr>
          <a:xfrm>
            <a:off x="3012915" y="3743200"/>
            <a:ext cx="1578619" cy="51538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/>
          <p:cNvSpPr/>
          <p:nvPr/>
        </p:nvSpPr>
        <p:spPr>
          <a:xfrm>
            <a:off x="4701197" y="3743200"/>
            <a:ext cx="1578619" cy="51538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/>
          <p:cNvSpPr/>
          <p:nvPr/>
        </p:nvSpPr>
        <p:spPr>
          <a:xfrm>
            <a:off x="6387485" y="3743200"/>
            <a:ext cx="1578619" cy="51538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/>
          <p:cNvSpPr/>
          <p:nvPr/>
        </p:nvSpPr>
        <p:spPr>
          <a:xfrm>
            <a:off x="2214894" y="4390544"/>
            <a:ext cx="1578619" cy="51538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/>
          <p:cNvSpPr/>
          <p:nvPr/>
        </p:nvSpPr>
        <p:spPr>
          <a:xfrm>
            <a:off x="3927316" y="4390544"/>
            <a:ext cx="1578619" cy="51538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/>
          <p:cNvSpPr/>
          <p:nvPr/>
        </p:nvSpPr>
        <p:spPr>
          <a:xfrm>
            <a:off x="5639739" y="4385189"/>
            <a:ext cx="1578619" cy="51538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6" name="直線單箭頭接點 35"/>
          <p:cNvCxnSpPr/>
          <p:nvPr/>
        </p:nvCxnSpPr>
        <p:spPr>
          <a:xfrm flipH="1">
            <a:off x="2338785" y="3345563"/>
            <a:ext cx="665418" cy="397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H="1">
            <a:off x="3127696" y="3394639"/>
            <a:ext cx="416435" cy="973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4242799" y="3394639"/>
            <a:ext cx="0" cy="369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4716625" y="3394639"/>
            <a:ext cx="165855" cy="9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>
            <a:off x="5290202" y="3394639"/>
            <a:ext cx="335667" cy="348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>
            <a:off x="5861804" y="3394639"/>
            <a:ext cx="1051558" cy="348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>
            <a:off x="5598371" y="3364956"/>
            <a:ext cx="1019190" cy="1003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 flipV="1">
            <a:off x="6986746" y="3136477"/>
            <a:ext cx="320391" cy="7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3" name="文字方塊 52"/>
          <p:cNvSpPr txBox="1"/>
          <p:nvPr/>
        </p:nvSpPr>
        <p:spPr>
          <a:xfrm>
            <a:off x="2723648" y="5100730"/>
            <a:ext cx="3985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各欄位的</a:t>
            </a:r>
            <a:r>
              <a:rPr lang="zh-TW" altLang="en-US" dirty="0" smtClean="0"/>
              <a:t>意義分裝到不同文件中保存</a:t>
            </a:r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8941833" y="3743200"/>
            <a:ext cx="2493820" cy="16899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8" name="直線單箭頭接點 57"/>
          <p:cNvCxnSpPr/>
          <p:nvPr/>
        </p:nvCxnSpPr>
        <p:spPr>
          <a:xfrm flipV="1">
            <a:off x="7328922" y="4607150"/>
            <a:ext cx="134956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9" name="文字方塊 58"/>
          <p:cNvSpPr txBox="1"/>
          <p:nvPr/>
        </p:nvSpPr>
        <p:spPr>
          <a:xfrm>
            <a:off x="9004792" y="3857104"/>
            <a:ext cx="2367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依照使用者需求</a:t>
            </a:r>
            <a:endParaRPr lang="en-US" altLang="zh-TW" dirty="0" smtClean="0"/>
          </a:p>
          <a:p>
            <a:r>
              <a:rPr lang="zh-TW" altLang="en-US" dirty="0" smtClean="0"/>
              <a:t>將數據重組合後</a:t>
            </a:r>
            <a:endParaRPr lang="en-US" altLang="zh-TW" dirty="0" smtClean="0"/>
          </a:p>
          <a:p>
            <a:r>
              <a:rPr lang="zh-TW" altLang="en-US" dirty="0"/>
              <a:t>整理成一個精簡文件回傳</a:t>
            </a:r>
          </a:p>
        </p:txBody>
      </p:sp>
      <p:sp>
        <p:nvSpPr>
          <p:cNvPr id="62" name="矩形 61"/>
          <p:cNvSpPr/>
          <p:nvPr/>
        </p:nvSpPr>
        <p:spPr>
          <a:xfrm>
            <a:off x="74815" y="190965"/>
            <a:ext cx="781396" cy="18955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95230" y="2239170"/>
            <a:ext cx="758337" cy="34070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95230" y="5798915"/>
            <a:ext cx="758337" cy="8623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8" name="直線單箭頭接點 67"/>
          <p:cNvCxnSpPr>
            <a:endCxn id="4" idx="1"/>
          </p:cNvCxnSpPr>
          <p:nvPr/>
        </p:nvCxnSpPr>
        <p:spPr>
          <a:xfrm>
            <a:off x="3532907" y="473825"/>
            <a:ext cx="146861" cy="8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stCxn id="4" idx="2"/>
            <a:endCxn id="6" idx="0"/>
          </p:cNvCxnSpPr>
          <p:nvPr/>
        </p:nvCxnSpPr>
        <p:spPr>
          <a:xfrm>
            <a:off x="5752408" y="772856"/>
            <a:ext cx="0" cy="74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>
            <a:stCxn id="6" idx="2"/>
            <a:endCxn id="8" idx="0"/>
          </p:cNvCxnSpPr>
          <p:nvPr/>
        </p:nvCxnSpPr>
        <p:spPr>
          <a:xfrm>
            <a:off x="5752408" y="1429183"/>
            <a:ext cx="0" cy="74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stCxn id="4" idx="3"/>
          </p:cNvCxnSpPr>
          <p:nvPr/>
        </p:nvCxnSpPr>
        <p:spPr>
          <a:xfrm>
            <a:off x="7825048" y="481911"/>
            <a:ext cx="196734" cy="169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>
            <a:stCxn id="8" idx="2"/>
          </p:cNvCxnSpPr>
          <p:nvPr/>
        </p:nvCxnSpPr>
        <p:spPr>
          <a:xfrm>
            <a:off x="5752408" y="2085509"/>
            <a:ext cx="0" cy="165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>
            <a:off x="11853949" y="1964390"/>
            <a:ext cx="33251" cy="3858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/>
          <p:nvPr/>
        </p:nvCxnSpPr>
        <p:spPr>
          <a:xfrm>
            <a:off x="5861804" y="5646240"/>
            <a:ext cx="0" cy="176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1" name="文字方塊 80"/>
          <p:cNvSpPr txBox="1"/>
          <p:nvPr/>
        </p:nvSpPr>
        <p:spPr>
          <a:xfrm>
            <a:off x="116295" y="954064"/>
            <a:ext cx="698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/>
              <a:t>設定</a:t>
            </a:r>
            <a:endParaRPr lang="zh-TW" altLang="en-US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125180" y="3758039"/>
            <a:ext cx="698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轉譯</a:t>
            </a:r>
          </a:p>
        </p:txBody>
      </p:sp>
      <p:sp>
        <p:nvSpPr>
          <p:cNvPr id="83" name="文字方塊 82"/>
          <p:cNvSpPr txBox="1"/>
          <p:nvPr/>
        </p:nvSpPr>
        <p:spPr>
          <a:xfrm>
            <a:off x="125180" y="6045423"/>
            <a:ext cx="698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/>
              <a:t>分析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65076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1670</TotalTime>
  <Words>1514</Words>
  <Application>Microsoft Office PowerPoint</Application>
  <PresentationFormat>寬螢幕</PresentationFormat>
  <Paragraphs>234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賴沛冠</dc:creator>
  <cp:lastModifiedBy>賴沛冠</cp:lastModifiedBy>
  <cp:revision>71</cp:revision>
  <dcterms:created xsi:type="dcterms:W3CDTF">2021-05-25T06:01:55Z</dcterms:created>
  <dcterms:modified xsi:type="dcterms:W3CDTF">2021-06-03T05:52:43Z</dcterms:modified>
</cp:coreProperties>
</file>